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97280" y="1097280"/>
            <a:ext cx="9997135"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defRPr sz="1400" b="1">
                <a:solidFill>
                  <a:srgbClr val="38BDF8"/>
                </a:solidFill>
                <a:latin typeface="Arial"/>
              </a:defRPr>
            </a:pPr>
            <a:r>
              <a:t>HỌC PHẦN: KIỂM THỬ PHẦN MỀM – THỰC HÀNH KIỂM THỬ TỰ ĐỘNG</a:t>
            </a:r>
          </a:p>
          <a:p>
            <a:pPr>
              <a:spcBef>
                <a:spcPts val="1200"/>
              </a:spcBef>
              <a:defRPr sz="3200" b="1">
                <a:solidFill>
                  <a:srgbClr val="F8FAFC"/>
                </a:solidFill>
                <a:latin typeface="Arial"/>
              </a:defRPr>
            </a:pPr>
            <a:r>
              <a:t>BÁO CÁO CHUYÊN ĐỀ TÀI LIỆU SELENIUM &amp; THỰC HÀNH KIỂM THỬ</a:t>
            </a:r>
          </a:p>
          <a:p>
            <a:pPr>
              <a:spcBef>
                <a:spcPts val="800"/>
              </a:spcBef>
              <a:defRPr sz="2000">
                <a:solidFill>
                  <a:srgbClr val="93C5FD"/>
                </a:solidFill>
                <a:latin typeface="Arial"/>
              </a:defRPr>
            </a:pPr>
            <a:r>
              <a:t>Chức năng: Nhập liệu &amp; Phím đặc biệt (Inputs &amp; Special Keys)</a:t>
            </a:r>
          </a:p>
          <a:p>
            <a:pPr>
              <a:spcBef>
                <a:spcPts val="2400"/>
              </a:spcBef>
              <a:defRPr sz="1400">
                <a:solidFill>
                  <a:srgbClr val="94A3B8"/>
                </a:solidFill>
                <a:latin typeface="Arial"/>
              </a:defRPr>
            </a:pPr>
            <a:r>
              <a:t>• Đối tượng kiểm thử: the-internet.herokuapp.com (/key_presses &amp; /inputs)</a:t>
            </a:r>
            <a:br/>
            <a:r>
              <a:t>• Đơn vị thực hiện: Nhóm W1 (Web Testing Team 1)</a:t>
            </a:r>
            <a:br/>
            <a:r>
              <a:t>• Sinh viên thực hiện: Đoàn Nam Anh (MSSV: A46489)</a:t>
            </a:r>
            <a:br/>
            <a:r>
              <a:t>• Kho lưu trữ GitHub: github.com/Nanhhhhhhh/kttd-w1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320040"/>
          </a:xfrm>
          <a:prstGeom prst="rect">
            <a:avLst/>
          </a:prstGeom>
          <a:noFill/>
        </p:spPr>
        <p:txBody>
          <a:bodyPr wrap="none">
            <a:spAutoFit/>
          </a:bodyPr>
          <a:lstStyle/>
          <a:p>
            <a:pPr>
              <a:defRPr sz="1100" b="1">
                <a:solidFill>
                  <a:srgbClr val="38BDF8"/>
                </a:solidFill>
                <a:latin typeface="Arial"/>
              </a:defRPr>
            </a:pPr>
            <a:r>
              <a:t>TỔNG QUAN</a:t>
            </a:r>
          </a:p>
        </p:txBody>
      </p:sp>
      <p:sp>
        <p:nvSpPr>
          <p:cNvPr id="4" name="TextBox 3"/>
          <p:cNvSpPr txBox="1"/>
          <p:nvPr/>
        </p:nvSpPr>
        <p:spPr>
          <a:xfrm>
            <a:off x="731520" y="594360"/>
            <a:ext cx="10728655" cy="594360"/>
          </a:xfrm>
          <a:prstGeom prst="rect">
            <a:avLst/>
          </a:prstGeom>
          <a:noFill/>
        </p:spPr>
        <p:txBody>
          <a:bodyPr wrap="none">
            <a:spAutoFit/>
          </a:bodyPr>
          <a:lstStyle/>
          <a:p>
            <a:pPr>
              <a:defRPr sz="2400" b="1">
                <a:solidFill>
                  <a:srgbClr val="F8FAFC"/>
                </a:solidFill>
                <a:latin typeface="Arial"/>
              </a:defRPr>
            </a:pPr>
            <a:r>
              <a:t>Mục lục &amp; Cấu trúc nội dung bài báo cáo</a:t>
            </a:r>
          </a:p>
        </p:txBody>
      </p:sp>
      <p:sp>
        <p:nvSpPr>
          <p:cNvPr id="5" name="Rectangle 4"/>
          <p:cNvSpPr/>
          <p:nvPr/>
        </p:nvSpPr>
        <p:spPr>
          <a:xfrm>
            <a:off x="731520" y="123444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320040"/>
          </a:xfrm>
          <a:prstGeom prst="rect">
            <a:avLst/>
          </a:prstGeom>
          <a:noFill/>
        </p:spPr>
        <p:txBody>
          <a:bodyPr wrap="none">
            <a:spAutoFit/>
          </a:bodyPr>
          <a:lstStyle/>
          <a:p>
            <a:pPr>
              <a:defRPr sz="1000">
                <a:solidFill>
                  <a:srgbClr val="94A3B8"/>
                </a:solidFill>
                <a:latin typeface="Arial"/>
              </a:defRPr>
            </a:pPr>
            <a:r>
              <a:t>Kiểm thử phần mềm tự động | Nhóm W1 – Đề tài: Nhập liệu &amp; phím đặc biệt (Selenium Python)</a:t>
            </a:r>
          </a:p>
        </p:txBody>
      </p:sp>
      <p:sp>
        <p:nvSpPr>
          <p:cNvPr id="7" name="Rounded Rectangle 6"/>
          <p:cNvSpPr/>
          <p:nvPr/>
        </p:nvSpPr>
        <p:spPr>
          <a:xfrm>
            <a:off x="7315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600" b="1">
                <a:solidFill>
                  <a:srgbClr val="38BDF8"/>
                </a:solidFill>
                <a:latin typeface="Arial"/>
              </a:defRPr>
            </a:pPr>
            <a:r>
              <a:t>PHẦN I: LÝ THUYẾT CHUYÊN ĐỀ SELENIUM</a:t>
            </a:r>
          </a:p>
          <a:p>
            <a:pPr>
              <a:spcBef>
                <a:spcPts val="400"/>
              </a:spcBef>
              <a:defRPr sz="1300" b="1">
                <a:solidFill>
                  <a:srgbClr val="F8FAFC"/>
                </a:solidFill>
              </a:defRPr>
            </a:pPr>
            <a:r>
              <a:t>• 1. Kiến trúc WebDriver &amp; Cơ chế giao tiếp W3C (Mục 2.1)</a:t>
            </a:r>
          </a:p>
          <a:p>
            <a:pPr>
              <a:defRPr sz="1100">
                <a:solidFill>
                  <a:srgbClr val="94A3B8"/>
                </a:solidFill>
              </a:defRPr>
            </a:pPr>
            <a:r>
              <a:t>   Chu trình JSON-over-HTTP và kết nối ChromeDriver</a:t>
            </a:r>
          </a:p>
          <a:p>
            <a:pPr>
              <a:spcBef>
                <a:spcPts val="400"/>
              </a:spcBef>
              <a:defRPr sz="1300" b="1">
                <a:solidFill>
                  <a:srgbClr val="F8FAFC"/>
                </a:solidFill>
              </a:defRPr>
            </a:pPr>
            <a:r>
              <a:t>• 2. Cơ chế điều hướng &amp; Tải trang driver.get() (Mục 2.2)</a:t>
            </a:r>
          </a:p>
          <a:p>
            <a:pPr>
              <a:defRPr sz="1100">
                <a:solidFill>
                  <a:srgbClr val="94A3B8"/>
                </a:solidFill>
              </a:defRPr>
            </a:pPr>
            <a:r>
              <a:t>   Chiến lược tải DOM và xử lý nghẽn tài nguyên</a:t>
            </a:r>
          </a:p>
          <a:p>
            <a:pPr>
              <a:spcBef>
                <a:spcPts val="400"/>
              </a:spcBef>
              <a:defRPr sz="1300" b="1">
                <a:solidFill>
                  <a:srgbClr val="F8FAFC"/>
                </a:solidFill>
              </a:defRPr>
            </a:pPr>
            <a:r>
              <a:t>• 3. Cấu trúc kiểm thử với unittest.TestCase (Mục 2.3)</a:t>
            </a:r>
          </a:p>
          <a:p>
            <a:pPr>
              <a:defRPr sz="1100">
                <a:solidFill>
                  <a:srgbClr val="94A3B8"/>
                </a:solidFill>
              </a:defRPr>
            </a:pPr>
            <a:r>
              <a:t>   Mô hình xUnit, Test Fixture, TestCase &amp; TestRunner</a:t>
            </a:r>
          </a:p>
          <a:p>
            <a:pPr>
              <a:spcBef>
                <a:spcPts val="400"/>
              </a:spcBef>
              <a:defRPr sz="1300" b="1">
                <a:solidFill>
                  <a:srgbClr val="F8FAFC"/>
                </a:solidFill>
              </a:defRPr>
            </a:pPr>
            <a:r>
              <a:t>• 4. Vòng đời Test Fixture: setUp &amp; tearDown (Mục 2.4)</a:t>
            </a:r>
          </a:p>
          <a:p>
            <a:pPr>
              <a:defRPr sz="1100">
                <a:solidFill>
                  <a:srgbClr val="94A3B8"/>
                </a:solidFill>
              </a:defRPr>
            </a:pPr>
            <a:r>
              <a:t>   Cơ chế cách ly trạng thái và quản lý tiến trình</a:t>
            </a:r>
          </a:p>
          <a:p>
            <a:pPr>
              <a:spcBef>
                <a:spcPts val="400"/>
              </a:spcBef>
              <a:defRPr sz="1300" b="1">
                <a:solidFill>
                  <a:srgbClr val="F8FAFC"/>
                </a:solidFill>
              </a:defRPr>
            </a:pPr>
            <a:r>
              <a:t>• 5. Bản chất đối tượng WebElement &amp; Tương tác (Mục 3.1 &amp; 7.20)</a:t>
            </a:r>
          </a:p>
          <a:p>
            <a:pPr>
              <a:defRPr sz="1100">
                <a:solidFill>
                  <a:srgbClr val="94A3B8"/>
                </a:solidFill>
              </a:defRPr>
            </a:pPr>
            <a:r>
              <a:t>   Proxy tham chiếu DOM, .send_keys(), .clear()</a:t>
            </a:r>
          </a:p>
          <a:p>
            <a:pPr>
              <a:spcBef>
                <a:spcPts val="400"/>
              </a:spcBef>
              <a:defRPr sz="1300" b="1">
                <a:solidFill>
                  <a:srgbClr val="F8FAFC"/>
                </a:solidFill>
              </a:defRPr>
            </a:pPr>
            <a:r>
              <a:t>• 6. Định vị By.ID &amp; Lớp phím đặc biệt Keys (Mục 4.1 &amp; 7.4)</a:t>
            </a:r>
          </a:p>
          <a:p>
            <a:pPr>
              <a:defRPr sz="1100">
                <a:solidFill>
                  <a:srgbClr val="94A3B8"/>
                </a:solidFill>
              </a:defRPr>
            </a:pPr>
            <a:r>
              <a:t>   Tối ưu hóa bảng băm $O(1)$ và bảng mã Unicode PUA</a:t>
            </a:r>
          </a:p>
        </p:txBody>
      </p:sp>
      <p:sp>
        <p:nvSpPr>
          <p:cNvPr id="8" name="Rounded Rectangle 7"/>
          <p:cNvSpPr/>
          <p:nvPr/>
        </p:nvSpPr>
        <p:spPr>
          <a:xfrm>
            <a:off x="62179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600" b="1">
                <a:solidFill>
                  <a:srgbClr val="38BDF8"/>
                </a:solidFill>
                <a:latin typeface="Arial"/>
              </a:defRPr>
            </a:pPr>
            <a:r>
              <a:t>PHẦN II: THỰC HÀNH &amp; KẾT QUẢ KIỂM THỬ</a:t>
            </a:r>
          </a:p>
          <a:p>
            <a:pPr>
              <a:spcBef>
                <a:spcPts val="400"/>
              </a:spcBef>
              <a:defRPr sz="1300" b="1">
                <a:solidFill>
                  <a:srgbClr val="F8FAFC"/>
                </a:solidFill>
              </a:defRPr>
            </a:pPr>
            <a:r>
              <a:t>• 7. Phân tích giao diện &amp; Yêu cầu kỹ thuật 2 trang</a:t>
            </a:r>
          </a:p>
          <a:p>
            <a:pPr>
              <a:defRPr sz="1100">
                <a:solidFill>
                  <a:srgbClr val="94A3B8"/>
                </a:solidFill>
              </a:defRPr>
            </a:pPr>
            <a:r>
              <a:t>   Đặc tính form /key_presses và input số /inputs</a:t>
            </a:r>
          </a:p>
          <a:p>
            <a:pPr>
              <a:spcBef>
                <a:spcPts val="400"/>
              </a:spcBef>
              <a:defRPr sz="1300" b="1">
                <a:solidFill>
                  <a:srgbClr val="F8FAFC"/>
                </a:solidFill>
              </a:defRPr>
            </a:pPr>
            <a:r>
              <a:t>• 8. Bảng thiết kế 6 kịch bản kiểm thử (Test Cases)</a:t>
            </a:r>
          </a:p>
          <a:p>
            <a:pPr>
              <a:defRPr sz="1100">
                <a:solidFill>
                  <a:srgbClr val="94A3B8"/>
                </a:solidFill>
              </a:defRPr>
            </a:pPr>
            <a:r>
              <a:t>   Mô tả dữ liệu đầu vào, các bước thực thi và kỳ vọng</a:t>
            </a:r>
          </a:p>
          <a:p>
            <a:pPr>
              <a:spcBef>
                <a:spcPts val="400"/>
              </a:spcBef>
              <a:defRPr sz="1300" b="1">
                <a:solidFill>
                  <a:srgbClr val="F8FAFC"/>
                </a:solidFill>
              </a:defRPr>
            </a:pPr>
            <a:r>
              <a:t>• 9. Triển khai mã nguồn kiểm thử chi tiết</a:t>
            </a:r>
          </a:p>
          <a:p>
            <a:pPr>
              <a:defRPr sz="1100">
                <a:solidFill>
                  <a:srgbClr val="94A3B8"/>
                </a:solidFill>
              </a:defRPr>
            </a:pPr>
            <a:r>
              <a:t>   Hiện thực hóa đủ 13 hàm bắt buộc theo phân công</a:t>
            </a:r>
          </a:p>
          <a:p>
            <a:pPr>
              <a:spcBef>
                <a:spcPts val="400"/>
              </a:spcBef>
              <a:defRPr sz="1300" b="1">
                <a:solidFill>
                  <a:srgbClr val="F8FAFC"/>
                </a:solidFill>
              </a:defRPr>
            </a:pPr>
            <a:r>
              <a:t>• 10. Báo cáo kết quả thực thi &amp; Phân tích log Pytest</a:t>
            </a:r>
          </a:p>
          <a:p>
            <a:pPr>
              <a:defRPr sz="1100">
                <a:solidFill>
                  <a:srgbClr val="94A3B8"/>
                </a:solidFill>
              </a:defRPr>
            </a:pPr>
            <a:r>
              <a:t>   100% Passed, phân tích thời gian và báo cáo HTML</a:t>
            </a:r>
          </a:p>
          <a:p>
            <a:pPr>
              <a:spcBef>
                <a:spcPts val="400"/>
              </a:spcBef>
              <a:defRPr sz="1300" b="1">
                <a:solidFill>
                  <a:srgbClr val="F8FAFC"/>
                </a:solidFill>
              </a:defRPr>
            </a:pPr>
            <a:r>
              <a:t>• 11. Minh chứng hình ảnh chạy kiểm thử thực tế</a:t>
            </a:r>
          </a:p>
          <a:p>
            <a:pPr>
              <a:defRPr sz="1100">
                <a:solidFill>
                  <a:srgbClr val="94A3B8"/>
                </a:solidFill>
              </a:defRPr>
            </a:pPr>
            <a:r>
              <a:t>   Ảnh chụp kết quả gõ phím và tương tác dữ liệu số</a:t>
            </a:r>
          </a:p>
          <a:p>
            <a:pPr>
              <a:spcBef>
                <a:spcPts val="400"/>
              </a:spcBef>
              <a:defRPr sz="1300" b="1">
                <a:solidFill>
                  <a:srgbClr val="F8FAFC"/>
                </a:solidFill>
              </a:defRPr>
            </a:pPr>
            <a:r>
              <a:t>• 12. Bài học kinh nghiệm &amp; Quy trình Git nhóm</a:t>
            </a:r>
          </a:p>
          <a:p>
            <a:pPr>
              <a:defRPr sz="1100">
                <a:solidFill>
                  <a:srgbClr val="94A3B8"/>
                </a:solidFill>
              </a:defRPr>
            </a:pPr>
            <a:r>
              <a:t>   Kỹ thuật chặn reload form HTML và quy trình PR tuần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320040"/>
          </a:xfrm>
          <a:prstGeom prst="rect">
            <a:avLst/>
          </a:prstGeom>
          <a:noFill/>
        </p:spPr>
        <p:txBody>
          <a:bodyPr wrap="none">
            <a:spAutoFit/>
          </a:bodyPr>
          <a:lstStyle/>
          <a:p>
            <a:pPr>
              <a:defRPr sz="1100" b="1">
                <a:solidFill>
                  <a:srgbClr val="38BDF8"/>
                </a:solidFill>
                <a:latin typeface="Arial"/>
              </a:defRPr>
            </a:pPr>
            <a:r>
              <a:t>CHUYÊN ĐỀ TÀI LIỆU SELENIUM</a:t>
            </a:r>
          </a:p>
        </p:txBody>
      </p:sp>
      <p:sp>
        <p:nvSpPr>
          <p:cNvPr id="4" name="TextBox 3"/>
          <p:cNvSpPr txBox="1"/>
          <p:nvPr/>
        </p:nvSpPr>
        <p:spPr>
          <a:xfrm>
            <a:off x="731520" y="594360"/>
            <a:ext cx="10728655" cy="594360"/>
          </a:xfrm>
          <a:prstGeom prst="rect">
            <a:avLst/>
          </a:prstGeom>
          <a:noFill/>
        </p:spPr>
        <p:txBody>
          <a:bodyPr wrap="none">
            <a:spAutoFit/>
          </a:bodyPr>
          <a:lstStyle/>
          <a:p>
            <a:pPr>
              <a:defRPr sz="2400" b="1">
                <a:solidFill>
                  <a:srgbClr val="F8FAFC"/>
                </a:solidFill>
                <a:latin typeface="Arial"/>
              </a:defRPr>
            </a:pPr>
            <a:r>
              <a:t>Mục 2.1: Kiến trúc Selenium WebDriver &amp; Chuẩn W3C</a:t>
            </a:r>
          </a:p>
        </p:txBody>
      </p:sp>
      <p:sp>
        <p:nvSpPr>
          <p:cNvPr id="5" name="Rectangle 4"/>
          <p:cNvSpPr/>
          <p:nvPr/>
        </p:nvSpPr>
        <p:spPr>
          <a:xfrm>
            <a:off x="731520" y="123444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320040"/>
          </a:xfrm>
          <a:prstGeom prst="rect">
            <a:avLst/>
          </a:prstGeom>
          <a:noFill/>
        </p:spPr>
        <p:txBody>
          <a:bodyPr wrap="none">
            <a:spAutoFit/>
          </a:bodyPr>
          <a:lstStyle/>
          <a:p>
            <a:pPr>
              <a:defRPr sz="1000">
                <a:solidFill>
                  <a:srgbClr val="94A3B8"/>
                </a:solidFill>
                <a:latin typeface="Arial"/>
              </a:defRPr>
            </a:pPr>
            <a:r>
              <a:t>Kiểm thử phần mềm tự động | Nhóm W1 – Đề tài: Nhập liệu &amp; phím đặc biệt (Selenium Python)</a:t>
            </a:r>
          </a:p>
        </p:txBody>
      </p:sp>
      <p:sp>
        <p:nvSpPr>
          <p:cNvPr id="7" name="Rounded Rectangle 6"/>
          <p:cNvSpPr/>
          <p:nvPr/>
        </p:nvSpPr>
        <p:spPr>
          <a:xfrm>
            <a:off x="7315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600" b="1">
                <a:solidFill>
                  <a:srgbClr val="38BDF8"/>
                </a:solidFill>
                <a:latin typeface="Arial"/>
              </a:defRPr>
            </a:pPr>
            <a:r>
              <a:t>Mô hình kiến trúc 3 lớp (3-Tier Architecture)</a:t>
            </a:r>
          </a:p>
          <a:p>
            <a:pPr>
              <a:spcBef>
                <a:spcPts val="800"/>
              </a:spcBef>
              <a:defRPr sz="1300" b="1">
                <a:solidFill>
                  <a:srgbClr val="38BDF8"/>
                </a:solidFill>
              </a:defRPr>
            </a:pPr>
            <a:r>
              <a:t>• Lớp 1: Client Language Bindings (Python SDK):</a:t>
            </a:r>
          </a:p>
          <a:p>
            <a:pPr>
              <a:defRPr sz="1200">
                <a:solidFill>
                  <a:srgbClr val="F8FAFC"/>
                </a:solidFill>
              </a:defRPr>
            </a:pPr>
            <a:r>
              <a:t>   Cung cấp API hướng đối tượng cấp cao (webdriver, By, Keys) để lập trình viên viết kịch bản kiểm thử.</a:t>
            </a:r>
          </a:p>
          <a:p>
            <a:pPr>
              <a:spcBef>
                <a:spcPts val="800"/>
              </a:spcBef>
              <a:defRPr sz="1300" b="1">
                <a:solidFill>
                  <a:srgbClr val="38BDF8"/>
                </a:solidFill>
              </a:defRPr>
            </a:pPr>
            <a:r>
              <a:t>• Lớp 2: Browser Driver (ChromeDriver):</a:t>
            </a:r>
          </a:p>
          <a:p>
            <a:pPr>
              <a:defRPr sz="1200">
                <a:solidFill>
                  <a:srgbClr val="F8FAFC"/>
                </a:solidFill>
              </a:defRPr>
            </a:pPr>
            <a:r>
              <a:t>   Đóng vai trò như một HTTP Server trung gian, nhận lệnh từ Client theo chuẩn giao thức W3C WebDriver Specification.</a:t>
            </a:r>
          </a:p>
          <a:p>
            <a:pPr>
              <a:spcBef>
                <a:spcPts val="800"/>
              </a:spcBef>
              <a:defRPr sz="1300" b="1">
                <a:solidFill>
                  <a:srgbClr val="38BDF8"/>
                </a:solidFill>
              </a:defRPr>
            </a:pPr>
            <a:r>
              <a:t>• Lớp 3: Real Browser Engine (Google Chrome):</a:t>
            </a:r>
          </a:p>
          <a:p>
            <a:pPr>
              <a:defRPr sz="1200">
                <a:solidFill>
                  <a:srgbClr val="F8FAFC"/>
                </a:solidFill>
              </a:defRPr>
            </a:pPr>
            <a:r>
              <a:t>   Trình duyệt thực thi trực tiếp các thao tác DOM thông qua Chrome DevTools Protocol (CDP) và render kết quả.</a:t>
            </a:r>
          </a:p>
        </p:txBody>
      </p:sp>
      <p:sp>
        <p:nvSpPr>
          <p:cNvPr id="8" name="Rounded Rectangle 7"/>
          <p:cNvSpPr/>
          <p:nvPr/>
        </p:nvSpPr>
        <p:spPr>
          <a:xfrm>
            <a:off x="62179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400" b="1">
                <a:solidFill>
                  <a:srgbClr val="F8FAFC"/>
                </a:solidFill>
                <a:latin typeface="Arial"/>
              </a:defRPr>
            </a:pPr>
            <a:r>
              <a:t>Quy trình bắt tay (Handshake) khi khởi tạo session:</a:t>
            </a:r>
          </a:p>
          <a:p>
            <a:pPr>
              <a:spcBef>
                <a:spcPts val="800"/>
              </a:spcBef>
              <a:defRPr sz="1100">
                <a:solidFill>
                  <a:srgbClr val="34D399"/>
                </a:solidFill>
                <a:latin typeface="Courier New"/>
              </a:defRPr>
            </a:pPr>
            <a:r>
              <a:t># 1. Python gửi request HTTP POST /session</a:t>
            </a:r>
            <a:br/>
            <a:r>
              <a:t># kèm Desired Capabilities/Options sang ChromeDriver:</a:t>
            </a:r>
            <a:br/>
            <a:r>
              <a:t>from selenium import webdriver</a:t>
            </a:r>
            <a:br/>
            <a:r>
              <a:t>options = webdriver.ChromeOptions()</a:t>
            </a:r>
            <a:br/>
            <a:r>
              <a:t>options.add_argument('--headless=new')</a:t>
            </a:r>
            <a:br/>
            <a:r>
              <a:t>driver = webdriver.Chrome(options=options)</a:t>
            </a:r>
            <a:br/>
            <a:br/>
            <a:r>
              <a:t># 2. ChromeDriver khởi động Chrome process ngầm,</a:t>
            </a:r>
            <a:br/>
            <a:r>
              <a:t># mở cổng remote debugging, và phản hồi:</a:t>
            </a:r>
            <a:br/>
            <a:r>
              <a:t># HTTP/1.1 200 OK</a:t>
            </a:r>
            <a:br/>
            <a:r>
              <a:t># {"value": {"sessionId": "d6379bf4...", ...}}</a:t>
            </a:r>
            <a:br/>
            <a:br/>
            <a:r>
              <a:t># 3. Mọi thao tác sau đó đều gắn kèm Session ID này.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320040"/>
          </a:xfrm>
          <a:prstGeom prst="rect">
            <a:avLst/>
          </a:prstGeom>
          <a:noFill/>
        </p:spPr>
        <p:txBody>
          <a:bodyPr wrap="none">
            <a:spAutoFit/>
          </a:bodyPr>
          <a:lstStyle/>
          <a:p>
            <a:pPr>
              <a:defRPr sz="1100" b="1">
                <a:solidFill>
                  <a:srgbClr val="38BDF8"/>
                </a:solidFill>
                <a:latin typeface="Arial"/>
              </a:defRPr>
            </a:pPr>
            <a:r>
              <a:t>CHUYÊN ĐỀ TÀI LIỆU SELENIUM</a:t>
            </a:r>
          </a:p>
        </p:txBody>
      </p:sp>
      <p:sp>
        <p:nvSpPr>
          <p:cNvPr id="4" name="TextBox 3"/>
          <p:cNvSpPr txBox="1"/>
          <p:nvPr/>
        </p:nvSpPr>
        <p:spPr>
          <a:xfrm>
            <a:off x="731520" y="594360"/>
            <a:ext cx="10728655" cy="594360"/>
          </a:xfrm>
          <a:prstGeom prst="rect">
            <a:avLst/>
          </a:prstGeom>
          <a:noFill/>
        </p:spPr>
        <p:txBody>
          <a:bodyPr wrap="none">
            <a:spAutoFit/>
          </a:bodyPr>
          <a:lstStyle/>
          <a:p>
            <a:pPr>
              <a:defRPr sz="2400" b="1">
                <a:solidFill>
                  <a:srgbClr val="F8FAFC"/>
                </a:solidFill>
                <a:latin typeface="Arial"/>
              </a:defRPr>
            </a:pPr>
            <a:r>
              <a:t>Mục 2.2: Cơ chế điều hướng và Chiến lược tải trang của get()</a:t>
            </a:r>
          </a:p>
        </p:txBody>
      </p:sp>
      <p:sp>
        <p:nvSpPr>
          <p:cNvPr id="5" name="Rectangle 4"/>
          <p:cNvSpPr/>
          <p:nvPr/>
        </p:nvSpPr>
        <p:spPr>
          <a:xfrm>
            <a:off x="731520" y="123444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320040"/>
          </a:xfrm>
          <a:prstGeom prst="rect">
            <a:avLst/>
          </a:prstGeom>
          <a:noFill/>
        </p:spPr>
        <p:txBody>
          <a:bodyPr wrap="none">
            <a:spAutoFit/>
          </a:bodyPr>
          <a:lstStyle/>
          <a:p>
            <a:pPr>
              <a:defRPr sz="1000">
                <a:solidFill>
                  <a:srgbClr val="94A3B8"/>
                </a:solidFill>
                <a:latin typeface="Arial"/>
              </a:defRPr>
            </a:pPr>
            <a:r>
              <a:t>Kiểm thử phần mềm tự động | Nhóm W1 – Đề tài: Nhập liệu &amp; phím đặc biệt (Selenium Python)</a:t>
            </a:r>
          </a:p>
        </p:txBody>
      </p:sp>
      <p:sp>
        <p:nvSpPr>
          <p:cNvPr id="7" name="Rounded Rectangle 6"/>
          <p:cNvSpPr/>
          <p:nvPr/>
        </p:nvSpPr>
        <p:spPr>
          <a:xfrm>
            <a:off x="7315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600" b="1">
                <a:solidFill>
                  <a:srgbClr val="38BDF8"/>
                </a:solidFill>
                <a:latin typeface="Arial"/>
              </a:defRPr>
            </a:pPr>
            <a:r>
              <a:t>Bản chất của phương thức driver.get(url)</a:t>
            </a:r>
          </a:p>
          <a:p>
            <a:pPr>
              <a:spcBef>
                <a:spcPts val="600"/>
              </a:spcBef>
              <a:defRPr sz="1300" b="1">
                <a:solidFill>
                  <a:srgbClr val="38BDF8"/>
                </a:solidFill>
              </a:defRPr>
            </a:pPr>
            <a:r>
              <a:t>• Lệnh HTTP REST:</a:t>
            </a:r>
          </a:p>
          <a:p>
            <a:pPr>
              <a:defRPr sz="1200">
                <a:solidFill>
                  <a:srgbClr val="F8FAFC"/>
                </a:solidFill>
              </a:defRPr>
            </a:pPr>
            <a:r>
              <a:t>   Client gửi lệnh POST /session/{id}/url chứa trường JSON {"url": "https://..."}.</a:t>
            </a:r>
          </a:p>
          <a:p>
            <a:pPr>
              <a:spcBef>
                <a:spcPts val="600"/>
              </a:spcBef>
              <a:defRPr sz="1300" b="1">
                <a:solidFill>
                  <a:srgbClr val="38BDF8"/>
                </a:solidFill>
              </a:defRPr>
            </a:pPr>
            <a:r>
              <a:t>• Cơ chế đồng bộ mặc định:</a:t>
            </a:r>
          </a:p>
          <a:p>
            <a:pPr>
              <a:defRPr sz="1200">
                <a:solidFill>
                  <a:srgbClr val="F8FAFC"/>
                </a:solidFill>
              </a:defRPr>
            </a:pPr>
            <a:r>
              <a:t>   Phương thức get() là lời gọi đồng bộ (blocking call). Nó sẽ chờ cho đến khi sự kiện tải trang của trình duyệt hoàn tất trước khi chuyển sang dòng lệnh kế tiếp.</a:t>
            </a:r>
          </a:p>
          <a:p>
            <a:pPr>
              <a:spcBef>
                <a:spcPts val="600"/>
              </a:spcBef>
              <a:defRPr sz="1300" b="1">
                <a:solidFill>
                  <a:srgbClr val="38BDF8"/>
                </a:solidFill>
              </a:defRPr>
            </a:pPr>
            <a:r>
              <a:t>• Xác minh trang tải thành công:</a:t>
            </a:r>
          </a:p>
          <a:p>
            <a:pPr>
              <a:defRPr sz="1200">
                <a:solidFill>
                  <a:srgbClr val="F8FAFC"/>
                </a:solidFill>
              </a:defRPr>
            </a:pPr>
            <a:r>
              <a:t>   Mục 2.2 tài liệu Selenium nhấn mạnh việc kiểm tra thuộc tính driver.title sau khi get() để đảm bảo người dùng đã đến đúng trang mong đợi:</a:t>
            </a:r>
          </a:p>
          <a:p>
            <a:pPr>
              <a:spcBef>
                <a:spcPts val="600"/>
              </a:spcBef>
              <a:defRPr sz="1100">
                <a:solidFill>
                  <a:srgbClr val="34D399"/>
                </a:solidFill>
                <a:latin typeface="Courier New"/>
              </a:defRPr>
            </a:pPr>
            <a:r>
              <a:t>self.driver.get(URL_KEY_PRESSES)</a:t>
            </a:r>
            <a:br/>
            <a:r>
              <a:t>assert 'The Internet' in self.driver.title</a:t>
            </a:r>
          </a:p>
        </p:txBody>
      </p:sp>
      <p:sp>
        <p:nvSpPr>
          <p:cNvPr id="8" name="Rounded Rectangle 7"/>
          <p:cNvSpPr/>
          <p:nvPr/>
        </p:nvSpPr>
        <p:spPr>
          <a:xfrm>
            <a:off x="62179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600" b="1">
                <a:solidFill>
                  <a:srgbClr val="38BDF8"/>
                </a:solidFill>
                <a:latin typeface="Arial"/>
              </a:defRPr>
            </a:pPr>
            <a:r>
              <a:t>Phân tích 3 chiến lược tải trang (Page Load Strategy)</a:t>
            </a:r>
          </a:p>
          <a:p>
            <a:pPr>
              <a:spcBef>
                <a:spcPts val="800"/>
              </a:spcBef>
              <a:defRPr sz="1300" b="1">
                <a:solidFill>
                  <a:srgbClr val="F8FAFC"/>
                </a:solidFill>
              </a:defRPr>
            </a:pPr>
            <a:r>
              <a:t>• Chiến lược normal (Mặc định):</a:t>
            </a:r>
          </a:p>
          <a:p>
            <a:pPr>
              <a:defRPr sz="1200">
                <a:solidFill>
                  <a:srgbClr val="94A3B8"/>
                </a:solidFill>
              </a:defRPr>
            </a:pPr>
            <a:r>
              <a:t>   Chờ sự kiện window.onload. Trình duyệt đợi toàn bộ HTML, CSS, JavaScript, hình ảnh và cả các script quảng cáo/theo dõi bên thứ ba tải xong. Dễ bị timeout (nghẽn mạng).</a:t>
            </a:r>
          </a:p>
          <a:p>
            <a:pPr>
              <a:spcBef>
                <a:spcPts val="800"/>
              </a:spcBef>
              <a:defRPr sz="1300" b="1">
                <a:solidFill>
                  <a:srgbClr val="FBBF24"/>
                </a:solidFill>
              </a:defRPr>
            </a:pPr>
            <a:r>
              <a:t>• Chiến lược eager (Tối ưu - Đã áp dụng):</a:t>
            </a:r>
          </a:p>
          <a:p>
            <a:pPr>
              <a:defRPr sz="1200">
                <a:solidFill>
                  <a:srgbClr val="94A3B8"/>
                </a:solidFill>
              </a:defRPr>
            </a:pPr>
            <a:r>
              <a:t>   Chờ sự kiện DOMContentLoaded. Trình duyệt trả quyền điều khiển ngay khi cây DOM đã sẵn sàng để tương tác, bỏ qua các ảnh nền hoặc script phân tích chưa tải xong.</a:t>
            </a:r>
          </a:p>
          <a:p>
            <a:pPr>
              <a:spcBef>
                <a:spcPts val="800"/>
              </a:spcBef>
              <a:defRPr sz="1300" b="1">
                <a:solidFill>
                  <a:srgbClr val="F8FAFC"/>
                </a:solidFill>
              </a:defRPr>
            </a:pPr>
            <a:r>
              <a:t>• Chiến lược none:</a:t>
            </a:r>
          </a:p>
          <a:p>
            <a:pPr>
              <a:defRPr sz="1200">
                <a:solidFill>
                  <a:srgbClr val="94A3B8"/>
                </a:solidFill>
              </a:defRPr>
            </a:pPr>
            <a:r>
              <a:t>   Phương thức get() trả về ngay sau khi bắt đầu gửi request, không chờ đợi bất kỳ tài nguyên nào.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320040"/>
          </a:xfrm>
          <a:prstGeom prst="rect">
            <a:avLst/>
          </a:prstGeom>
          <a:noFill/>
        </p:spPr>
        <p:txBody>
          <a:bodyPr wrap="none">
            <a:spAutoFit/>
          </a:bodyPr>
          <a:lstStyle/>
          <a:p>
            <a:pPr>
              <a:defRPr sz="1100" b="1">
                <a:solidFill>
                  <a:srgbClr val="38BDF8"/>
                </a:solidFill>
                <a:latin typeface="Arial"/>
              </a:defRPr>
            </a:pPr>
            <a:r>
              <a:t>CHUYÊN ĐỀ TÀI LIỆU SELENIUM</a:t>
            </a:r>
          </a:p>
        </p:txBody>
      </p:sp>
      <p:sp>
        <p:nvSpPr>
          <p:cNvPr id="4" name="TextBox 3"/>
          <p:cNvSpPr txBox="1"/>
          <p:nvPr/>
        </p:nvSpPr>
        <p:spPr>
          <a:xfrm>
            <a:off x="731520" y="594360"/>
            <a:ext cx="10728655" cy="594360"/>
          </a:xfrm>
          <a:prstGeom prst="rect">
            <a:avLst/>
          </a:prstGeom>
          <a:noFill/>
        </p:spPr>
        <p:txBody>
          <a:bodyPr wrap="none">
            <a:spAutoFit/>
          </a:bodyPr>
          <a:lstStyle/>
          <a:p>
            <a:pPr>
              <a:defRPr sz="2400" b="1">
                <a:solidFill>
                  <a:srgbClr val="F8FAFC"/>
                </a:solidFill>
                <a:latin typeface="Arial"/>
              </a:defRPr>
            </a:pPr>
            <a:r>
              <a:t>Mục 2.3: Tổ chức kiểm thử hướng đối tượng với unittest</a:t>
            </a:r>
          </a:p>
        </p:txBody>
      </p:sp>
      <p:sp>
        <p:nvSpPr>
          <p:cNvPr id="5" name="Rectangle 4"/>
          <p:cNvSpPr/>
          <p:nvPr/>
        </p:nvSpPr>
        <p:spPr>
          <a:xfrm>
            <a:off x="731520" y="123444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320040"/>
          </a:xfrm>
          <a:prstGeom prst="rect">
            <a:avLst/>
          </a:prstGeom>
          <a:noFill/>
        </p:spPr>
        <p:txBody>
          <a:bodyPr wrap="none">
            <a:spAutoFit/>
          </a:bodyPr>
          <a:lstStyle/>
          <a:p>
            <a:pPr>
              <a:defRPr sz="1000">
                <a:solidFill>
                  <a:srgbClr val="94A3B8"/>
                </a:solidFill>
                <a:latin typeface="Arial"/>
              </a:defRPr>
            </a:pPr>
            <a:r>
              <a:t>Kiểm thử phần mềm tự động | Nhóm W1 – Đề tài: Nhập liệu &amp; phím đặc biệt (Selenium Python)</a:t>
            </a:r>
          </a:p>
        </p:txBody>
      </p:sp>
      <p:sp>
        <p:nvSpPr>
          <p:cNvPr id="7" name="Rounded Rectangle 6"/>
          <p:cNvSpPr/>
          <p:nvPr/>
        </p:nvSpPr>
        <p:spPr>
          <a:xfrm>
            <a:off x="7315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600" b="1">
                <a:solidFill>
                  <a:srgbClr val="38BDF8"/>
                </a:solidFill>
                <a:latin typeface="Arial"/>
              </a:defRPr>
            </a:pPr>
            <a:r>
              <a:t>4 Trụ cột của kiến trúc xUnit trong Python</a:t>
            </a:r>
          </a:p>
          <a:p>
            <a:pPr>
              <a:spcBef>
                <a:spcPts val="800"/>
              </a:spcBef>
              <a:defRPr sz="1300" b="1">
                <a:solidFill>
                  <a:srgbClr val="38BDF8"/>
                </a:solidFill>
              </a:defRPr>
            </a:pPr>
            <a:r>
              <a:t>• 1. Test Fixture (Môi trường kiểm thử):</a:t>
            </a:r>
          </a:p>
          <a:p>
            <a:pPr>
              <a:defRPr sz="1200">
                <a:solidFill>
                  <a:srgbClr val="F8FAFC"/>
                </a:solidFill>
              </a:defRPr>
            </a:pPr>
            <a:r>
              <a:t>   Tập hợp các chuẩn bị cần thiết trước khi chạy test (khởi tạo browser, tạo file dữ liệu) và các thao tác thu dọn tương ứng.</a:t>
            </a:r>
          </a:p>
          <a:p>
            <a:pPr>
              <a:spcBef>
                <a:spcPts val="800"/>
              </a:spcBef>
              <a:defRPr sz="1300" b="1">
                <a:solidFill>
                  <a:srgbClr val="38BDF8"/>
                </a:solidFill>
              </a:defRPr>
            </a:pPr>
            <a:r>
              <a:t>• 2. TestCase (Ca kiểm thử):</a:t>
            </a:r>
          </a:p>
          <a:p>
            <a:pPr>
              <a:defRPr sz="1200">
                <a:solidFill>
                  <a:srgbClr val="F8FAFC"/>
                </a:solidFill>
              </a:defRPr>
            </a:pPr>
            <a:r>
              <a:t>   Đơn vị kiểm thử độc lập nhỏ nhất. Kiểm tra một phản hồi cụ thể đối với một tập hợp dữ liệu đầu vào xác định.</a:t>
            </a:r>
          </a:p>
          <a:p>
            <a:pPr>
              <a:spcBef>
                <a:spcPts val="800"/>
              </a:spcBef>
              <a:defRPr sz="1300" b="1">
                <a:solidFill>
                  <a:srgbClr val="38BDF8"/>
                </a:solidFill>
              </a:defRPr>
            </a:pPr>
            <a:r>
              <a:t>• 3. TestSuite (Tập hợp kiểm thử):</a:t>
            </a:r>
          </a:p>
          <a:p>
            <a:pPr>
              <a:defRPr sz="1200">
                <a:solidFill>
                  <a:srgbClr val="F8FAFC"/>
                </a:solidFill>
              </a:defRPr>
            </a:pPr>
            <a:r>
              <a:t>   Một tập hợp gồm nhiều TestCase hoặc TestSuite khác, dùng để gộp các bài test chạy chung theo chuyên đề.</a:t>
            </a:r>
          </a:p>
          <a:p>
            <a:pPr>
              <a:spcBef>
                <a:spcPts val="800"/>
              </a:spcBef>
              <a:defRPr sz="1300" b="1">
                <a:solidFill>
                  <a:srgbClr val="38BDF8"/>
                </a:solidFill>
              </a:defRPr>
            </a:pPr>
            <a:r>
              <a:t>• 4. TestRunner (Bộ điều phối thực thi):</a:t>
            </a:r>
          </a:p>
          <a:p>
            <a:pPr>
              <a:defRPr sz="1200">
                <a:solidFill>
                  <a:srgbClr val="F8FAFC"/>
                </a:solidFill>
              </a:defRPr>
            </a:pPr>
            <a:r>
              <a:t>   Thực thi các ca kiểm thử và cung cấp kết quả đầu ra trực quan (OK, FAILED, thời gian chạy).</a:t>
            </a:r>
          </a:p>
        </p:txBody>
      </p:sp>
      <p:sp>
        <p:nvSpPr>
          <p:cNvPr id="8" name="Rounded Rectangle 7"/>
          <p:cNvSpPr/>
          <p:nvPr/>
        </p:nvSpPr>
        <p:spPr>
          <a:xfrm>
            <a:off x="62179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100" b="1">
                <a:solidFill>
                  <a:srgbClr val="34D399"/>
                </a:solidFill>
                <a:latin typeface="Courier New"/>
              </a:defRPr>
            </a:pPr>
            <a:r>
              <a:t>import unittest</a:t>
            </a:r>
            <a:br/>
            <a:r>
              <a:t>from selenium import webdriver</a:t>
            </a:r>
            <a:br/>
            <a:br/>
            <a:r>
              <a:t># Kế thừa unittest.TestCase giúp TestRunner</a:t>
            </a:r>
            <a:br/>
            <a:r>
              <a:t># tự động nhận diện các hàm có tiền tố 'test_'</a:t>
            </a:r>
            <a:br/>
            <a:r>
              <a:t>class TestChucNangW1(unittest.TestCase):</a:t>
            </a:r>
            <a:br/>
            <a:r>
              <a:t>    </a:t>
            </a:r>
            <a:br/>
            <a:r>
              <a:t>    def test_01_kiem_tra_input(self):</a:t>
            </a:r>
            <a:br/>
            <a:r>
              <a:t>        # Thực thi tương tác</a:t>
            </a:r>
            <a:br/>
            <a:r>
              <a:t>        elem = self.driver.find_element(...)</a:t>
            </a:r>
            <a:br/>
            <a:r>
              <a:t>        elem.send_keys('100')</a:t>
            </a:r>
            <a:br/>
            <a:r>
              <a:t>        </a:t>
            </a:r>
            <a:br/>
            <a:r>
              <a:t>        # Sử dụng các hàm assert chuyên dụng:</a:t>
            </a:r>
            <a:br/>
            <a:r>
              <a:t>        self.assertEqual(elem.get_attribute('value'), '100')</a:t>
            </a:r>
            <a:br/>
            <a:r>
              <a:t>        self.assertTrue(elem.is_displayed())</a:t>
            </a:r>
            <a:br/>
            <a:br/>
            <a:r>
              <a:t>if __name__ == '__main__':</a:t>
            </a:r>
            <a:br/>
            <a:r>
              <a:t>    # verbosity=2 để xem chi tiết từng test method</a:t>
            </a:r>
            <a:br/>
            <a:r>
              <a:t>    unittest.main(verbosity=2)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320040"/>
          </a:xfrm>
          <a:prstGeom prst="rect">
            <a:avLst/>
          </a:prstGeom>
          <a:noFill/>
        </p:spPr>
        <p:txBody>
          <a:bodyPr wrap="none">
            <a:spAutoFit/>
          </a:bodyPr>
          <a:lstStyle/>
          <a:p>
            <a:pPr>
              <a:defRPr sz="1100" b="1">
                <a:solidFill>
                  <a:srgbClr val="38BDF8"/>
                </a:solidFill>
                <a:latin typeface="Arial"/>
              </a:defRPr>
            </a:pPr>
            <a:r>
              <a:t>CHUYÊN ĐỀ TÀI LIỆU SELENIUM</a:t>
            </a:r>
          </a:p>
        </p:txBody>
      </p:sp>
      <p:sp>
        <p:nvSpPr>
          <p:cNvPr id="4" name="TextBox 3"/>
          <p:cNvSpPr txBox="1"/>
          <p:nvPr/>
        </p:nvSpPr>
        <p:spPr>
          <a:xfrm>
            <a:off x="731520" y="594360"/>
            <a:ext cx="10728655" cy="594360"/>
          </a:xfrm>
          <a:prstGeom prst="rect">
            <a:avLst/>
          </a:prstGeom>
          <a:noFill/>
        </p:spPr>
        <p:txBody>
          <a:bodyPr wrap="none">
            <a:spAutoFit/>
          </a:bodyPr>
          <a:lstStyle/>
          <a:p>
            <a:pPr>
              <a:defRPr sz="2400" b="1">
                <a:solidFill>
                  <a:srgbClr val="F8FAFC"/>
                </a:solidFill>
                <a:latin typeface="Arial"/>
              </a:defRPr>
            </a:pPr>
            <a:r>
              <a:t>Mục 2.4: Vòng đời Test Fixture: setUp() và tearDown()</a:t>
            </a:r>
          </a:p>
        </p:txBody>
      </p:sp>
      <p:sp>
        <p:nvSpPr>
          <p:cNvPr id="5" name="Rectangle 4"/>
          <p:cNvSpPr/>
          <p:nvPr/>
        </p:nvSpPr>
        <p:spPr>
          <a:xfrm>
            <a:off x="731520" y="123444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320040"/>
          </a:xfrm>
          <a:prstGeom prst="rect">
            <a:avLst/>
          </a:prstGeom>
          <a:noFill/>
        </p:spPr>
        <p:txBody>
          <a:bodyPr wrap="none">
            <a:spAutoFit/>
          </a:bodyPr>
          <a:lstStyle/>
          <a:p>
            <a:pPr>
              <a:defRPr sz="1000">
                <a:solidFill>
                  <a:srgbClr val="94A3B8"/>
                </a:solidFill>
                <a:latin typeface="Arial"/>
              </a:defRPr>
            </a:pPr>
            <a:r>
              <a:t>Kiểm thử phần mềm tự động | Nhóm W1 – Đề tài: Nhập liệu &amp; phím đặc biệt (Selenium Python)</a:t>
            </a:r>
          </a:p>
        </p:txBody>
      </p:sp>
      <p:sp>
        <p:nvSpPr>
          <p:cNvPr id="7" name="Rounded Rectangle 6"/>
          <p:cNvSpPr/>
          <p:nvPr/>
        </p:nvSpPr>
        <p:spPr>
          <a:xfrm>
            <a:off x="7315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600" b="1">
                <a:solidFill>
                  <a:srgbClr val="38BDF8"/>
                </a:solidFill>
                <a:latin typeface="Arial"/>
              </a:defRPr>
            </a:pPr>
            <a:r>
              <a:t>Chu trình sống của Test Fixture</a:t>
            </a:r>
          </a:p>
          <a:p>
            <a:pPr>
              <a:spcBef>
                <a:spcPts val="600"/>
              </a:spcBef>
              <a:defRPr sz="1300" b="1">
                <a:solidFill>
                  <a:srgbClr val="38BDF8"/>
                </a:solidFill>
              </a:defRPr>
            </a:pPr>
            <a:r>
              <a:t>• setUp() – Tiền điều kiện:</a:t>
            </a:r>
          </a:p>
          <a:p>
            <a:pPr>
              <a:defRPr sz="1200">
                <a:solidFill>
                  <a:srgbClr val="F8FAFC"/>
                </a:solidFill>
              </a:defRPr>
            </a:pPr>
            <a:r>
              <a:t>   Được gọi tự động ngay trước mỗi hàm test_*. Mục tiêu: đảm bảo trạng thái hệ thống luôn mới mẻ, sạch sẽ và sẵn sàng trước khi kiểm thử bắt đầu.</a:t>
            </a:r>
          </a:p>
          <a:p>
            <a:pPr>
              <a:spcBef>
                <a:spcPts val="600"/>
              </a:spcBef>
              <a:defRPr sz="1300" b="1">
                <a:solidFill>
                  <a:srgbClr val="38BDF8"/>
                </a:solidFill>
              </a:defRPr>
            </a:pPr>
            <a:r>
              <a:t>• tearDown() – Thu dọn tài nguyên:</a:t>
            </a:r>
          </a:p>
          <a:p>
            <a:pPr>
              <a:defRPr sz="1200">
                <a:solidFill>
                  <a:srgbClr val="F8FAFC"/>
                </a:solidFill>
              </a:defRPr>
            </a:pPr>
            <a:r>
              <a:t>   Được gọi tự động ngay sau khi hàm test_* kết thúc (kể cả khi test gặp lỗi Exception). Mục tiêu: dọn dẹp dữ liệu, đóng popup, ghi log.</a:t>
            </a:r>
          </a:p>
          <a:p>
            <a:pPr>
              <a:spcBef>
                <a:spcPts val="600"/>
              </a:spcBef>
              <a:defRPr sz="1300" b="1">
                <a:solidFill>
                  <a:srgbClr val="38BDF8"/>
                </a:solidFill>
              </a:defRPr>
            </a:pPr>
            <a:r>
              <a:t>• Cơ chế Test Isolation (Cách ly):</a:t>
            </a:r>
          </a:p>
          <a:p>
            <a:pPr>
              <a:defRPr sz="1200">
                <a:solidFill>
                  <a:srgbClr val="F8FAFC"/>
                </a:solidFill>
              </a:defRPr>
            </a:pPr>
            <a:r>
              <a:t>   Mỗi bài test không được phụ thuộc vào kết quả của bài test trước đó. Nếu test_01 bị lỗi, test_02 vẫn phải chạy bình thường.</a:t>
            </a:r>
          </a:p>
          <a:p>
            <a:pPr>
              <a:spcBef>
                <a:spcPts val="600"/>
              </a:spcBef>
              <a:defRPr sz="1300" b="1">
                <a:solidFill>
                  <a:srgbClr val="38BDF8"/>
                </a:solidFill>
              </a:defRPr>
            </a:pPr>
            <a:r>
              <a:t>• Quản lý tiến trình (Tránh Zombie Process):</a:t>
            </a:r>
          </a:p>
          <a:p>
            <a:pPr>
              <a:defRPr sz="1200">
                <a:solidFill>
                  <a:srgbClr val="F8FAFC"/>
                </a:solidFill>
              </a:defRPr>
            </a:pPr>
            <a:r>
              <a:t>   Nếu không gọi driver.quit() trong tearDown/tearDownClass, các tiến trình chromedriver ngầm sẽ tồn đọng gây đầy RAM.</a:t>
            </a:r>
          </a:p>
        </p:txBody>
      </p:sp>
      <p:sp>
        <p:nvSpPr>
          <p:cNvPr id="8" name="Rounded Rectangle 7"/>
          <p:cNvSpPr/>
          <p:nvPr/>
        </p:nvSpPr>
        <p:spPr>
          <a:xfrm>
            <a:off x="62179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8FAFC"/>
                </a:solidFill>
                <a:latin typeface="Arial"/>
              </a:defRPr>
            </a:pPr>
            <a:r>
              <a:t>Tối ưu hóa hiệu năng thực tế được áp dụng trong bài làm:</a:t>
            </a:r>
          </a:p>
          <a:p>
            <a:pPr>
              <a:spcBef>
                <a:spcPts val="600"/>
              </a:spcBef>
              <a:defRPr sz="1000">
                <a:solidFill>
                  <a:srgbClr val="34D399"/>
                </a:solidFill>
                <a:latin typeface="Courier New"/>
              </a:defRPr>
            </a:pPr>
            <a:r>
              <a:t># Cách 1 (Truyền thống theo mục 2.4):</a:t>
            </a:r>
            <a:br/>
            <a:r>
              <a:t># Mở Chrome trong setUp() và quit() trong tearDown()</a:t>
            </a:r>
            <a:br/>
            <a:r>
              <a:t># -&gt; Chạy 6 test phải bật/tắt Chrome 6 lần (Mất ~30s)</a:t>
            </a:r>
            <a:br/>
            <a:br/>
            <a:r>
              <a:t># Cách 2 (Tối ưu kết hợp setUpClass):</a:t>
            </a:r>
            <a:br/>
            <a:r>
              <a:t>@classmethod</a:t>
            </a:r>
            <a:br/>
            <a:r>
              <a:t>def setUpClass(cls):</a:t>
            </a:r>
            <a:br/>
            <a:r>
              <a:t>    # Mở 1 phiên trình duyệt duy nhất cho cả lớp</a:t>
            </a:r>
            <a:br/>
            <a:r>
              <a:t>    cls.driver = webdriver.Chrome(options)</a:t>
            </a:r>
            <a:br/>
            <a:br/>
            <a:r>
              <a:t>def setUp(self):</a:t>
            </a:r>
            <a:br/>
            <a:r>
              <a:t>    # Vẫn đáp ứng yêu cầu hàm setUp của đề bài</a:t>
            </a:r>
            <a:br/>
            <a:r>
              <a:t>    self.assertIsNotNone(self.driver)</a:t>
            </a:r>
            <a:br/>
            <a:br/>
            <a:r>
              <a:t>@classmethod</a:t>
            </a:r>
            <a:br/>
            <a:r>
              <a:t>def tearDownClass(cls):</a:t>
            </a:r>
            <a:br/>
            <a:r>
              <a:t>    cls.driver.quit()</a:t>
            </a:r>
            <a:br/>
            <a:r>
              <a:t># -&gt; Kết quả: Tốc độ chạy tăng gấp 6 lần (Chỉ mất 5.01s!)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320040"/>
          </a:xfrm>
          <a:prstGeom prst="rect">
            <a:avLst/>
          </a:prstGeom>
          <a:noFill/>
        </p:spPr>
        <p:txBody>
          <a:bodyPr wrap="none">
            <a:spAutoFit/>
          </a:bodyPr>
          <a:lstStyle/>
          <a:p>
            <a:pPr>
              <a:defRPr sz="1100" b="1">
                <a:solidFill>
                  <a:srgbClr val="38BDF8"/>
                </a:solidFill>
                <a:latin typeface="Arial"/>
              </a:defRPr>
            </a:pPr>
            <a:r>
              <a:t>CHUYÊN ĐỀ TÀI LIỆU SELENIUM</a:t>
            </a:r>
          </a:p>
        </p:txBody>
      </p:sp>
      <p:sp>
        <p:nvSpPr>
          <p:cNvPr id="4" name="TextBox 3"/>
          <p:cNvSpPr txBox="1"/>
          <p:nvPr/>
        </p:nvSpPr>
        <p:spPr>
          <a:xfrm>
            <a:off x="731520" y="594360"/>
            <a:ext cx="10728655" cy="594360"/>
          </a:xfrm>
          <a:prstGeom prst="rect">
            <a:avLst/>
          </a:prstGeom>
          <a:noFill/>
        </p:spPr>
        <p:txBody>
          <a:bodyPr wrap="none">
            <a:spAutoFit/>
          </a:bodyPr>
          <a:lstStyle/>
          <a:p>
            <a:pPr>
              <a:defRPr sz="2400" b="1">
                <a:solidFill>
                  <a:srgbClr val="F8FAFC"/>
                </a:solidFill>
                <a:latin typeface="Arial"/>
              </a:defRPr>
            </a:pPr>
            <a:r>
              <a:t>Mục 3.1 &amp; 7.20: Tương tác với trang &amp; Bản chất WebElement</a:t>
            </a:r>
          </a:p>
        </p:txBody>
      </p:sp>
      <p:sp>
        <p:nvSpPr>
          <p:cNvPr id="5" name="Rectangle 4"/>
          <p:cNvSpPr/>
          <p:nvPr/>
        </p:nvSpPr>
        <p:spPr>
          <a:xfrm>
            <a:off x="731520" y="123444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320040"/>
          </a:xfrm>
          <a:prstGeom prst="rect">
            <a:avLst/>
          </a:prstGeom>
          <a:noFill/>
        </p:spPr>
        <p:txBody>
          <a:bodyPr wrap="none">
            <a:spAutoFit/>
          </a:bodyPr>
          <a:lstStyle/>
          <a:p>
            <a:pPr>
              <a:defRPr sz="1000">
                <a:solidFill>
                  <a:srgbClr val="94A3B8"/>
                </a:solidFill>
                <a:latin typeface="Arial"/>
              </a:defRPr>
            </a:pPr>
            <a:r>
              <a:t>Kiểm thử phần mềm tự động | Nhóm W1 – Đề tài: Nhập liệu &amp; phím đặc biệt (Selenium Python)</a:t>
            </a:r>
          </a:p>
        </p:txBody>
      </p:sp>
      <p:sp>
        <p:nvSpPr>
          <p:cNvPr id="7" name="Rounded Rectangle 6"/>
          <p:cNvSpPr/>
          <p:nvPr/>
        </p:nvSpPr>
        <p:spPr>
          <a:xfrm>
            <a:off x="7315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600" b="1">
                <a:solidFill>
                  <a:srgbClr val="38BDF8"/>
                </a:solidFill>
                <a:latin typeface="Arial"/>
              </a:defRPr>
            </a:pPr>
            <a:r>
              <a:t>Bản chất kỹ thuật của WebElement</a:t>
            </a:r>
          </a:p>
          <a:p>
            <a:pPr>
              <a:spcBef>
                <a:spcPts val="600"/>
              </a:spcBef>
              <a:defRPr sz="1300" b="1">
                <a:solidFill>
                  <a:srgbClr val="38BDF8"/>
                </a:solidFill>
              </a:defRPr>
            </a:pPr>
            <a:r>
              <a:t>• Proxy Object đại diện cho phần tử DOM:</a:t>
            </a:r>
          </a:p>
          <a:p>
            <a:pPr>
              <a:defRPr sz="1200">
                <a:solidFill>
                  <a:srgbClr val="F8FAFC"/>
                </a:solidFill>
              </a:defRPr>
            </a:pPr>
            <a:r>
              <a:t>   Khi find_element() thành công, WebDriver trả về một đối tượng WebElement chứa UUID tham chiếu tới node DOM trên trình duyệt (ví dụ: element-6066-11e4-a52e-4f735466cecf).</a:t>
            </a:r>
          </a:p>
          <a:p>
            <a:pPr>
              <a:spcBef>
                <a:spcPts val="600"/>
              </a:spcBef>
              <a:defRPr sz="1300" b="1">
                <a:solidFill>
                  <a:srgbClr val="38BDF8"/>
                </a:solidFill>
              </a:defRPr>
            </a:pPr>
            <a:r>
              <a:t>• Phương thức send_keys(*values):</a:t>
            </a:r>
          </a:p>
          <a:p>
            <a:pPr>
              <a:defRPr sz="1200">
                <a:solidFill>
                  <a:srgbClr val="F8FAFC"/>
                </a:solidFill>
              </a:defRPr>
            </a:pPr>
            <a:r>
              <a:t>   Gửi các chuỗi ký tự hoặc phím chức năng. Phương thức này không ghi đè dữ liệu cũ mà nối thêm (append) vào sau dữ liệu đang có trong ô nhập.</a:t>
            </a:r>
          </a:p>
          <a:p>
            <a:pPr>
              <a:spcBef>
                <a:spcPts val="600"/>
              </a:spcBef>
              <a:defRPr sz="1300" b="1">
                <a:solidFill>
                  <a:srgbClr val="38BDF8"/>
                </a:solidFill>
              </a:defRPr>
            </a:pPr>
            <a:r>
              <a:t>• Phương thức clear():</a:t>
            </a:r>
          </a:p>
          <a:p>
            <a:pPr>
              <a:defRPr sz="1200">
                <a:solidFill>
                  <a:srgbClr val="F8FAFC"/>
                </a:solidFill>
              </a:defRPr>
            </a:pPr>
            <a:r>
              <a:t>   Làm trống giá trị của phần tử &lt;input&gt; hoặc &lt;textarea&gt;. Hoạt động bằng cách kích hoạt chuỗi sự kiện focus, select all, và xóa nội dung.</a:t>
            </a:r>
          </a:p>
        </p:txBody>
      </p:sp>
      <p:sp>
        <p:nvSpPr>
          <p:cNvPr id="8" name="Rounded Rectangle 7"/>
          <p:cNvSpPr/>
          <p:nvPr/>
        </p:nvSpPr>
        <p:spPr>
          <a:xfrm>
            <a:off x="62179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BBF24"/>
                </a:solidFill>
                <a:latin typeface="Arial"/>
              </a:defRPr>
            </a:pPr>
            <a:r>
              <a:t>Hiện tượng phần tử 'bị thiu' (Stale Element) rất phổ biến trong kiểm thử:</a:t>
            </a:r>
          </a:p>
          <a:p>
            <a:pPr>
              <a:spcBef>
                <a:spcPts val="600"/>
              </a:spcBef>
              <a:defRPr sz="1200">
                <a:solidFill>
                  <a:srgbClr val="F8FAFC"/>
                </a:solidFill>
              </a:defRPr>
            </a:pPr>
            <a:r>
              <a:t>1. Nguyên nhân kỹ thuật:</a:t>
            </a:r>
            <a:br/>
            <a:r>
              <a:t>Xảy ra khi phần tử đã được tìm thấy trước đó nhưng sau đó bị xóa khỏi DOM hoặc trang web bị reload/chuyển hướng. Tham chiếu UUID của WebElement trở nên vô giá trị.</a:t>
            </a:r>
            <a:br/>
            <a:br/>
            <a:r>
              <a:t>2. Tình huống gặp phải ở bài test W1:</a:t>
            </a:r>
            <a:br/>
            <a:r>
              <a:t>Khi gửi Keys.ENTER vào ô input nằm trong thẻ &lt;form&gt;, trình duyệt mặc định submit form GET và reload lại trang. Lệnh đọc text tiếp theo lập tức ném lỗi StaleElementReferenceException!</a:t>
            </a:r>
            <a:br/>
            <a:br/>
            <a:r>
              <a:t>3. Giải pháp khắc phục:</a:t>
            </a:r>
            <a:br/>
            <a:r>
              <a:t>Inject JavaScript chặn sự kiện submit tự nhiên: onsubmit = function(e){ e.preventDefault(); return false; } để bảo toàn trạng thái DOM.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320040"/>
          </a:xfrm>
          <a:prstGeom prst="rect">
            <a:avLst/>
          </a:prstGeom>
          <a:noFill/>
        </p:spPr>
        <p:txBody>
          <a:bodyPr wrap="none">
            <a:spAutoFit/>
          </a:bodyPr>
          <a:lstStyle/>
          <a:p>
            <a:pPr>
              <a:defRPr sz="1100" b="1">
                <a:solidFill>
                  <a:srgbClr val="38BDF8"/>
                </a:solidFill>
                <a:latin typeface="Arial"/>
              </a:defRPr>
            </a:pPr>
            <a:r>
              <a:t>CHUYÊN ĐỀ TÀI LIỆU SELENIUM</a:t>
            </a:r>
          </a:p>
        </p:txBody>
      </p:sp>
      <p:sp>
        <p:nvSpPr>
          <p:cNvPr id="4" name="TextBox 3"/>
          <p:cNvSpPr txBox="1"/>
          <p:nvPr/>
        </p:nvSpPr>
        <p:spPr>
          <a:xfrm>
            <a:off x="731520" y="594360"/>
            <a:ext cx="10728655" cy="594360"/>
          </a:xfrm>
          <a:prstGeom prst="rect">
            <a:avLst/>
          </a:prstGeom>
          <a:noFill/>
        </p:spPr>
        <p:txBody>
          <a:bodyPr wrap="none">
            <a:spAutoFit/>
          </a:bodyPr>
          <a:lstStyle/>
          <a:p>
            <a:pPr>
              <a:defRPr sz="2400" b="1">
                <a:solidFill>
                  <a:srgbClr val="F8FAFC"/>
                </a:solidFill>
                <a:latin typeface="Arial"/>
              </a:defRPr>
            </a:pPr>
            <a:r>
              <a:t>Mục 7.20: So sánh trích xuất dữ liệu: .text vs .get_attribute()</a:t>
            </a:r>
          </a:p>
        </p:txBody>
      </p:sp>
      <p:sp>
        <p:nvSpPr>
          <p:cNvPr id="5" name="Rectangle 4"/>
          <p:cNvSpPr/>
          <p:nvPr/>
        </p:nvSpPr>
        <p:spPr>
          <a:xfrm>
            <a:off x="731520" y="123444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320040"/>
          </a:xfrm>
          <a:prstGeom prst="rect">
            <a:avLst/>
          </a:prstGeom>
          <a:noFill/>
        </p:spPr>
        <p:txBody>
          <a:bodyPr wrap="none">
            <a:spAutoFit/>
          </a:bodyPr>
          <a:lstStyle/>
          <a:p>
            <a:pPr>
              <a:defRPr sz="1000">
                <a:solidFill>
                  <a:srgbClr val="94A3B8"/>
                </a:solidFill>
                <a:latin typeface="Arial"/>
              </a:defRPr>
            </a:pPr>
            <a:r>
              <a:t>Kiểm thử phần mềm tự động | Nhóm W1 – Đề tài: Nhập liệu &amp; phím đặc biệt (Selenium Python)</a:t>
            </a:r>
          </a:p>
        </p:txBody>
      </p:sp>
      <p:graphicFrame>
        <p:nvGraphicFramePr>
          <p:cNvPr id="7" name="Table 6"/>
          <p:cNvGraphicFramePr>
            <a:graphicFrameLocks noGrp="1"/>
          </p:cNvGraphicFramePr>
          <p:nvPr/>
        </p:nvGraphicFramePr>
        <p:xfrm>
          <a:off x="731520" y="1463040"/>
          <a:ext cx="10728655" cy="4572000"/>
        </p:xfrm>
        <a:graphic>
          <a:graphicData uri="http://schemas.openxmlformats.org/drawingml/2006/table">
            <a:tbl>
              <a:tblPr firstRow="1" bandRow="1">
                <a:tableStyleId>{5C22544A-7EE6-4342-B048-85BDC9FD1C3A}</a:tableStyleId>
              </a:tblPr>
              <a:tblGrid>
                <a:gridCol w="2286000"/>
                <a:gridCol w="4206240"/>
                <a:gridCol w="4236415"/>
              </a:tblGrid>
              <a:tr h="914400">
                <a:tc>
                  <a:txBody>
                    <a:bodyPr/>
                    <a:lstStyle/>
                    <a:p>
                      <a:pPr>
                        <a:defRPr b="1" sz="1300">
                          <a:solidFill>
                            <a:srgbClr val="F8FAFC"/>
                          </a:solidFill>
                        </a:defRPr>
                      </a:pPr>
                      <a:r>
                        <a:t>TIÊU CHÍ SO SÁNH</a:t>
                      </a:r>
                    </a:p>
                  </a:txBody>
                  <a:tcPr>
                    <a:solidFill>
                      <a:srgbClr val="1E293B"/>
                    </a:solidFill>
                  </a:tcPr>
                </a:tc>
                <a:tc>
                  <a:txBody>
                    <a:bodyPr/>
                    <a:lstStyle/>
                    <a:p>
                      <a:pPr>
                        <a:defRPr b="1" sz="1300">
                          <a:solidFill>
                            <a:srgbClr val="38BDF8"/>
                          </a:solidFill>
                        </a:defRPr>
                      </a:pPr>
                      <a:r>
                        <a:t>THUỘC TÍNH .TEXT</a:t>
                      </a:r>
                    </a:p>
                  </a:txBody>
                  <a:tcPr>
                    <a:solidFill>
                      <a:srgbClr val="1E293B"/>
                    </a:solidFill>
                  </a:tcPr>
                </a:tc>
                <a:tc>
                  <a:txBody>
                    <a:bodyPr/>
                    <a:lstStyle/>
                    <a:p>
                      <a:pPr>
                        <a:defRPr b="1" sz="1300">
                          <a:solidFill>
                            <a:srgbClr val="34D399"/>
                          </a:solidFill>
                        </a:defRPr>
                      </a:pPr>
                      <a:r>
                        <a:t>PHƯƠNG THỨC .GET_ATTRIBUTE(NAME)</a:t>
                      </a:r>
                    </a:p>
                  </a:txBody>
                  <a:tcPr>
                    <a:solidFill>
                      <a:srgbClr val="1E293B"/>
                    </a:solidFill>
                  </a:tcPr>
                </a:tc>
              </a:tr>
              <a:tr h="914400">
                <a:tc>
                  <a:txBody>
                    <a:bodyPr/>
                    <a:lstStyle/>
                    <a:p>
                      <a:pPr>
                        <a:defRPr sz="1200" b="1">
                          <a:solidFill>
                            <a:srgbClr val="93C5FD"/>
                          </a:solidFill>
                        </a:defRPr>
                      </a:pPr>
                      <a:r>
                        <a:t>Bản chất bên dưới</a:t>
                      </a:r>
                    </a:p>
                  </a:txBody>
                  <a:tcPr>
                    <a:solidFill>
                      <a:srgbClr val="0B1329"/>
                    </a:solidFill>
                  </a:tcPr>
                </a:tc>
                <a:tc>
                  <a:txBody>
                    <a:bodyPr/>
                    <a:lstStyle/>
                    <a:p>
                      <a:pPr>
                        <a:defRPr sz="1200">
                          <a:solidFill>
                            <a:srgbClr val="F8FAFC"/>
                          </a:solidFill>
                        </a:defRPr>
                      </a:pPr>
                      <a:r>
                        <a:t>Đọc thuộc tính innerText của phần tử theo chuẩn W3C.</a:t>
                      </a:r>
                    </a:p>
                  </a:txBody>
                  <a:tcPr>
                    <a:solidFill>
                      <a:srgbClr val="0B1329"/>
                    </a:solidFill>
                  </a:tcPr>
                </a:tc>
                <a:tc>
                  <a:txBody>
                    <a:bodyPr/>
                    <a:lstStyle/>
                    <a:p>
                      <a:pPr>
                        <a:defRPr sz="1200">
                          <a:solidFill>
                            <a:srgbClr val="F8FAFC"/>
                          </a:solidFill>
                        </a:defRPr>
                      </a:pPr>
                      <a:r>
                        <a:t>Đọc giá trị của thuộc tính trong cây DOM hoặc HTML tag.</a:t>
                      </a:r>
                    </a:p>
                  </a:txBody>
                  <a:tcPr>
                    <a:solidFill>
                      <a:srgbClr val="0B1329"/>
                    </a:solidFill>
                  </a:tcPr>
                </a:tc>
              </a:tr>
              <a:tr h="914400">
                <a:tc>
                  <a:txBody>
                    <a:bodyPr/>
                    <a:lstStyle/>
                    <a:p>
                      <a:pPr>
                        <a:defRPr sz="1200" b="1">
                          <a:solidFill>
                            <a:srgbClr val="93C5FD"/>
                          </a:solidFill>
                        </a:defRPr>
                      </a:pPr>
                      <a:r>
                        <a:t>Khả năng hiển thị (Visibility)</a:t>
                      </a:r>
                    </a:p>
                  </a:txBody>
                  <a:tcPr>
                    <a:solidFill>
                      <a:srgbClr val="0B1329"/>
                    </a:solidFill>
                  </a:tcPr>
                </a:tc>
                <a:tc>
                  <a:txBody>
                    <a:bodyPr/>
                    <a:lstStyle/>
                    <a:p>
                      <a:pPr>
                        <a:defRPr sz="1200">
                          <a:solidFill>
                            <a:srgbClr val="F8FAFC"/>
                          </a:solidFill>
                        </a:defRPr>
                      </a:pPr>
                      <a:r>
                        <a:t>Chỉ lấy văn bản hiển thị cho người dùng. Bỏ qua các phần tử bị ẩn (display: none, visibility: hidden).</a:t>
                      </a:r>
                    </a:p>
                  </a:txBody>
                  <a:tcPr>
                    <a:solidFill>
                      <a:srgbClr val="0B1329"/>
                    </a:solidFill>
                  </a:tcPr>
                </a:tc>
                <a:tc>
                  <a:txBody>
                    <a:bodyPr/>
                    <a:lstStyle/>
                    <a:p>
                      <a:pPr>
                        <a:defRPr sz="1200">
                          <a:solidFill>
                            <a:srgbClr val="F8FAFC"/>
                          </a:solidFill>
                        </a:defRPr>
                      </a:pPr>
                      <a:r>
                        <a:t>Lấy được bất kỳ thuộc tính nào, bất kể phần tử có đang hiển thị trên màn hình hay không.</a:t>
                      </a:r>
                    </a:p>
                  </a:txBody>
                  <a:tcPr>
                    <a:solidFill>
                      <a:srgbClr val="0B1329"/>
                    </a:solidFill>
                  </a:tcPr>
                </a:tc>
              </a:tr>
              <a:tr h="914400">
                <a:tc>
                  <a:txBody>
                    <a:bodyPr/>
                    <a:lstStyle/>
                    <a:p>
                      <a:pPr>
                        <a:defRPr sz="1200" b="1">
                          <a:solidFill>
                            <a:srgbClr val="93C5FD"/>
                          </a:solidFill>
                        </a:defRPr>
                      </a:pPr>
                      <a:r>
                        <a:t>Ứng dụng với thẻ &lt;input&gt;</a:t>
                      </a:r>
                    </a:p>
                  </a:txBody>
                  <a:tcPr>
                    <a:solidFill>
                      <a:srgbClr val="0B1329"/>
                    </a:solidFill>
                  </a:tcPr>
                </a:tc>
                <a:tc>
                  <a:txBody>
                    <a:bodyPr/>
                    <a:lstStyle/>
                    <a:p>
                      <a:pPr>
                        <a:defRPr sz="1200">
                          <a:solidFill>
                            <a:srgbClr val="F8FAFC"/>
                          </a:solidFill>
                        </a:defRPr>
                      </a:pPr>
                      <a:r>
                        <a:t>KHÔNG lấy được giá trị người dùng nhập vào ô &lt;input&gt; (luôn trả về chuỗi rỗng '').</a:t>
                      </a:r>
                    </a:p>
                  </a:txBody>
                  <a:tcPr>
                    <a:solidFill>
                      <a:srgbClr val="0B1329"/>
                    </a:solidFill>
                  </a:tcPr>
                </a:tc>
                <a:tc>
                  <a:txBody>
                    <a:bodyPr/>
                    <a:lstStyle/>
                    <a:p>
                      <a:pPr>
                        <a:defRPr sz="1200">
                          <a:solidFill>
                            <a:srgbClr val="F8FAFC"/>
                          </a:solidFill>
                        </a:defRPr>
                      </a:pPr>
                      <a:r>
                        <a:t>Lấy được chính xác giá trị đã nhập thông qua .get_attribute('value').</a:t>
                      </a:r>
                    </a:p>
                  </a:txBody>
                  <a:tcPr>
                    <a:solidFill>
                      <a:srgbClr val="0B1329"/>
                    </a:solidFill>
                  </a:tcPr>
                </a:tc>
              </a:tr>
              <a:tr h="914400">
                <a:tc>
                  <a:txBody>
                    <a:bodyPr/>
                    <a:lstStyle/>
                    <a:p>
                      <a:pPr>
                        <a:defRPr sz="1200" b="1">
                          <a:solidFill>
                            <a:srgbClr val="93C5FD"/>
                          </a:solidFill>
                        </a:defRPr>
                      </a:pPr>
                      <a:r>
                        <a:t>Áp dụng trong bài test W1</a:t>
                      </a:r>
                    </a:p>
                  </a:txBody>
                  <a:tcPr>
                    <a:solidFill>
                      <a:srgbClr val="0B1329"/>
                    </a:solidFill>
                  </a:tcPr>
                </a:tc>
                <a:tc>
                  <a:txBody>
                    <a:bodyPr/>
                    <a:lstStyle/>
                    <a:p>
                      <a:pPr>
                        <a:defRPr sz="1200">
                          <a:solidFill>
                            <a:srgbClr val="F8FAFC"/>
                          </a:solidFill>
                        </a:defRPr>
                      </a:pPr>
                      <a:r>
                        <a:t>Lấy dòng chữ thông báo kết quả hiển thị trên trang key_presses: result.text -&gt; 'You entered: ENTER'.</a:t>
                      </a:r>
                    </a:p>
                  </a:txBody>
                  <a:tcPr>
                    <a:solidFill>
                      <a:srgbClr val="0B1329"/>
                    </a:solidFill>
                  </a:tcPr>
                </a:tc>
                <a:tc>
                  <a:txBody>
                    <a:bodyPr/>
                    <a:lstStyle/>
                    <a:p>
                      <a:pPr>
                        <a:defRPr sz="1200">
                          <a:solidFill>
                            <a:srgbClr val="F8FAFC"/>
                          </a:solidFill>
                        </a:defRPr>
                      </a:pPr>
                      <a:r>
                        <a:t>Đọc kiểu trường: get_attribute('type') -&gt; 'number' và giá trị thực: get_attribute('value') -&gt; '50'.</a:t>
                      </a:r>
                    </a:p>
                  </a:txBody>
                  <a:tcPr>
                    <a:solidFill>
                      <a:srgbClr val="0B1329"/>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320040"/>
          </a:xfrm>
          <a:prstGeom prst="rect">
            <a:avLst/>
          </a:prstGeom>
          <a:noFill/>
        </p:spPr>
        <p:txBody>
          <a:bodyPr wrap="none">
            <a:spAutoFit/>
          </a:bodyPr>
          <a:lstStyle/>
          <a:p>
            <a:pPr>
              <a:defRPr sz="1100" b="1">
                <a:solidFill>
                  <a:srgbClr val="38BDF8"/>
                </a:solidFill>
                <a:latin typeface="Arial"/>
              </a:defRPr>
            </a:pPr>
            <a:r>
              <a:t>CHUYÊN ĐỀ TÀI LIỆU SELENIUM</a:t>
            </a:r>
          </a:p>
        </p:txBody>
      </p:sp>
      <p:sp>
        <p:nvSpPr>
          <p:cNvPr id="4" name="TextBox 3"/>
          <p:cNvSpPr txBox="1"/>
          <p:nvPr/>
        </p:nvSpPr>
        <p:spPr>
          <a:xfrm>
            <a:off x="731520" y="594360"/>
            <a:ext cx="10728655" cy="594360"/>
          </a:xfrm>
          <a:prstGeom prst="rect">
            <a:avLst/>
          </a:prstGeom>
          <a:noFill/>
        </p:spPr>
        <p:txBody>
          <a:bodyPr wrap="none">
            <a:spAutoFit/>
          </a:bodyPr>
          <a:lstStyle/>
          <a:p>
            <a:pPr>
              <a:defRPr sz="2400" b="1">
                <a:solidFill>
                  <a:srgbClr val="F8FAFC"/>
                </a:solidFill>
                <a:latin typeface="Arial"/>
              </a:defRPr>
            </a:pPr>
            <a:r>
              <a:t>Mục 4.1: Bộ định vị By.ID – Cơ chế hoạt động &amp; Hiệu năng</a:t>
            </a:r>
          </a:p>
        </p:txBody>
      </p:sp>
      <p:sp>
        <p:nvSpPr>
          <p:cNvPr id="5" name="Rectangle 4"/>
          <p:cNvSpPr/>
          <p:nvPr/>
        </p:nvSpPr>
        <p:spPr>
          <a:xfrm>
            <a:off x="731520" y="123444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320040"/>
          </a:xfrm>
          <a:prstGeom prst="rect">
            <a:avLst/>
          </a:prstGeom>
          <a:noFill/>
        </p:spPr>
        <p:txBody>
          <a:bodyPr wrap="none">
            <a:spAutoFit/>
          </a:bodyPr>
          <a:lstStyle/>
          <a:p>
            <a:pPr>
              <a:defRPr sz="1000">
                <a:solidFill>
                  <a:srgbClr val="94A3B8"/>
                </a:solidFill>
                <a:latin typeface="Arial"/>
              </a:defRPr>
            </a:pPr>
            <a:r>
              <a:t>Kiểm thử phần mềm tự động | Nhóm W1 – Đề tài: Nhập liệu &amp; phím đặc biệt (Selenium Python)</a:t>
            </a:r>
          </a:p>
        </p:txBody>
      </p:sp>
      <p:sp>
        <p:nvSpPr>
          <p:cNvPr id="7" name="Rounded Rectangle 6"/>
          <p:cNvSpPr/>
          <p:nvPr/>
        </p:nvSpPr>
        <p:spPr>
          <a:xfrm>
            <a:off x="7315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600" b="1">
                <a:solidFill>
                  <a:srgbClr val="38BDF8"/>
                </a:solidFill>
                <a:latin typeface="Arial"/>
              </a:defRPr>
            </a:pPr>
            <a:r>
              <a:t>Cơ chế hoạt động ngầm của By.ID</a:t>
            </a:r>
          </a:p>
          <a:p>
            <a:pPr>
              <a:spcBef>
                <a:spcPts val="600"/>
              </a:spcBef>
              <a:defRPr sz="1300" b="1">
                <a:solidFill>
                  <a:srgbClr val="38BDF8"/>
                </a:solidFill>
              </a:defRPr>
            </a:pPr>
            <a:r>
              <a:t>• Ánh xạ trực tiếp tới document.getElementById():</a:t>
            </a:r>
          </a:p>
          <a:p>
            <a:pPr>
              <a:defRPr sz="1200">
                <a:solidFill>
                  <a:srgbClr val="F8FAFC"/>
                </a:solidFill>
              </a:defRPr>
            </a:pPr>
            <a:r>
              <a:t>   Trong các trình duyệt hiện đại, By.ID gọi thẳng API tối ưu nhất của DOM engine, không cần phân tích cú pháp phức tạp.</a:t>
            </a:r>
          </a:p>
          <a:p>
            <a:pPr>
              <a:spcBef>
                <a:spcPts val="600"/>
              </a:spcBef>
              <a:defRPr sz="1300" b="1">
                <a:solidFill>
                  <a:srgbClr val="38BDF8"/>
                </a:solidFill>
              </a:defRPr>
            </a:pPr>
            <a:r>
              <a:t>• Độ phức tạp thuật toán O(1):</a:t>
            </a:r>
          </a:p>
          <a:p>
            <a:pPr>
              <a:defRPr sz="1200">
                <a:solidFill>
                  <a:srgbClr val="F8FAFC"/>
                </a:solidFill>
              </a:defRPr>
            </a:pPr>
            <a:r>
              <a:t>   Trình duyệt duy trì một bảng băm (Hash Map) lưu trữ các ID trên trang. Do đó, việc tìm kiếm phần tử theo By.ID diễn ra gần như tức thời.</a:t>
            </a:r>
          </a:p>
          <a:p>
            <a:pPr>
              <a:spcBef>
                <a:spcPts val="600"/>
              </a:spcBef>
              <a:defRPr sz="1300" b="1">
                <a:solidFill>
                  <a:srgbClr val="38BDF8"/>
                </a:solidFill>
              </a:defRPr>
            </a:pPr>
            <a:r>
              <a:t>• Tính duy nhất theo chuẩn W3C HTML5:</a:t>
            </a:r>
          </a:p>
          <a:p>
            <a:pPr>
              <a:defRPr sz="1200">
                <a:solidFill>
                  <a:srgbClr val="F8FAFC"/>
                </a:solidFill>
              </a:defRPr>
            </a:pPr>
            <a:r>
              <a:t>   Theo chuẩn web, thuộc tính id phải là duy nhất trên toàn bộ trang tài liệu. Điều này giúp test case có độ ổn định tuyệt đối, không bị chọn nhầm phần tử.</a:t>
            </a:r>
          </a:p>
          <a:p>
            <a:pPr>
              <a:spcBef>
                <a:spcPts val="600"/>
              </a:spcBef>
              <a:defRPr sz="1300" b="1">
                <a:solidFill>
                  <a:srgbClr val="38BDF8"/>
                </a:solidFill>
              </a:defRPr>
            </a:pPr>
            <a:r>
              <a:t>• Cú pháp sử dụng trong bài:</a:t>
            </a:r>
          </a:p>
          <a:p>
            <a:pPr>
              <a:defRPr sz="1100">
                <a:solidFill>
                  <a:srgbClr val="34D399"/>
                </a:solidFill>
                <a:latin typeface="Courier New"/>
              </a:defRPr>
            </a:pPr>
            <a:r>
              <a:t>target_input = self.driver.find_element(By.ID, 'target')</a:t>
            </a:r>
            <a:br/>
            <a:r>
              <a:t>result_element = self.driver.find_element(By.ID, 'result')</a:t>
            </a:r>
          </a:p>
        </p:txBody>
      </p:sp>
      <p:sp>
        <p:nvSpPr>
          <p:cNvPr id="8" name="Rounded Rectangle 7"/>
          <p:cNvSpPr/>
          <p:nvPr/>
        </p:nvSpPr>
        <p:spPr>
          <a:xfrm>
            <a:off x="62179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600" b="1">
                <a:solidFill>
                  <a:srgbClr val="38BDF8"/>
                </a:solidFill>
                <a:latin typeface="Arial"/>
              </a:defRPr>
            </a:pPr>
            <a:r>
              <a:t>So sánh hiệu năng các loại Locators</a:t>
            </a:r>
          </a:p>
          <a:p>
            <a:pPr>
              <a:spcBef>
                <a:spcPts val="600"/>
              </a:spcBef>
              <a:defRPr sz="1300" b="1">
                <a:solidFill>
                  <a:srgbClr val="FBBF24"/>
                </a:solidFill>
              </a:defRPr>
            </a:pPr>
            <a:r>
              <a:t>• By.ID: Nhanh nhất (O(1))</a:t>
            </a:r>
          </a:p>
          <a:p>
            <a:pPr>
              <a:defRPr sz="1200">
                <a:solidFill>
                  <a:srgbClr val="94A3B8"/>
                </a:solidFill>
              </a:defRPr>
            </a:pPr>
            <a:r>
              <a:t>   Lựa chọn số 1 khi phần tử có ID tĩnh, rõ ràng và duy nhất.</a:t>
            </a:r>
          </a:p>
          <a:p>
            <a:pPr>
              <a:spcBef>
                <a:spcPts val="600"/>
              </a:spcBef>
              <a:defRPr sz="1300" b="1">
                <a:solidFill>
                  <a:srgbClr val="F8FAFC"/>
                </a:solidFill>
              </a:defRPr>
            </a:pPr>
            <a:r>
              <a:t>• By.NAME: Rất nhanh</a:t>
            </a:r>
          </a:p>
          <a:p>
            <a:pPr>
              <a:defRPr sz="1200">
                <a:solidFill>
                  <a:srgbClr val="94A3B8"/>
                </a:solidFill>
              </a:defRPr>
            </a:pPr>
            <a:r>
              <a:t>   Thích hợp cho các trường nhập liệu trong biểu mẫu form.</a:t>
            </a:r>
          </a:p>
          <a:p>
            <a:pPr>
              <a:spcBef>
                <a:spcPts val="600"/>
              </a:spcBef>
              <a:defRPr sz="1300" b="1">
                <a:solidFill>
                  <a:srgbClr val="F8FAFC"/>
                </a:solidFill>
              </a:defRPr>
            </a:pPr>
            <a:r>
              <a:t>• By.CSS_SELECTOR: Nhanh, linh hoạt</a:t>
            </a:r>
          </a:p>
          <a:p>
            <a:pPr>
              <a:defRPr sz="1200">
                <a:solidFill>
                  <a:srgbClr val="94A3B8"/>
                </a:solidFill>
              </a:defRPr>
            </a:pPr>
            <a:r>
              <a:t>   Dùng khi cần tìm phần tử theo quan hệ cha-con, class, type (ví dụ: .example input).</a:t>
            </a:r>
          </a:p>
          <a:p>
            <a:pPr>
              <a:spcBef>
                <a:spcPts val="600"/>
              </a:spcBef>
              <a:defRPr sz="1300" b="1">
                <a:solidFill>
                  <a:srgbClr val="F8FAFC"/>
                </a:solidFill>
              </a:defRPr>
            </a:pPr>
            <a:r>
              <a:t>• By.XPATH: Chậm nhất (O(N))</a:t>
            </a:r>
          </a:p>
          <a:p>
            <a:pPr>
              <a:defRPr sz="1200">
                <a:solidFill>
                  <a:srgbClr val="94A3B8"/>
                </a:solidFill>
              </a:defRPr>
            </a:pPr>
            <a:r>
              <a:t>   Quét toàn bộ cây DOM. Cần thiết khi tìm kiếm ngược lên thẻ cha hoặc tìm theo text, nhưng dễ vỡ khi giao diện thay đổi.</a:t>
            </a:r>
          </a:p>
          <a:p>
            <a:pPr>
              <a:spcBef>
                <a:spcPts val="600"/>
              </a:spcBef>
              <a:defRPr sz="1300" b="1">
                <a:solidFill>
                  <a:srgbClr val="FBBF24"/>
                </a:solidFill>
              </a:defRPr>
            </a:pPr>
            <a:r>
              <a:t>• Lưu ý với ID động:</a:t>
            </a:r>
          </a:p>
          <a:p>
            <a:pPr>
              <a:defRPr sz="1200">
                <a:solidFill>
                  <a:srgbClr val="94A3B8"/>
                </a:solidFill>
              </a:defRPr>
            </a:pPr>
            <a:r>
              <a:t>   Trong các framework hiện đại (React/Vue), ID có thể bị sinh ngẫu nhiên (ví dụ: id='btn_18492'). Cần phân biệt ID tĩnh ổn định và ID sinh tự động.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320040"/>
          </a:xfrm>
          <a:prstGeom prst="rect">
            <a:avLst/>
          </a:prstGeom>
          <a:noFill/>
        </p:spPr>
        <p:txBody>
          <a:bodyPr wrap="none">
            <a:spAutoFit/>
          </a:bodyPr>
          <a:lstStyle/>
          <a:p>
            <a:pPr>
              <a:defRPr sz="1100" b="1">
                <a:solidFill>
                  <a:srgbClr val="38BDF8"/>
                </a:solidFill>
                <a:latin typeface="Arial"/>
              </a:defRPr>
            </a:pPr>
            <a:r>
              <a:t>CHUYÊN ĐỀ TÀI LIỆU SELENIUM</a:t>
            </a:r>
          </a:p>
        </p:txBody>
      </p:sp>
      <p:sp>
        <p:nvSpPr>
          <p:cNvPr id="4" name="TextBox 3"/>
          <p:cNvSpPr txBox="1"/>
          <p:nvPr/>
        </p:nvSpPr>
        <p:spPr>
          <a:xfrm>
            <a:off x="731520" y="594360"/>
            <a:ext cx="10728655" cy="594360"/>
          </a:xfrm>
          <a:prstGeom prst="rect">
            <a:avLst/>
          </a:prstGeom>
          <a:noFill/>
        </p:spPr>
        <p:txBody>
          <a:bodyPr wrap="none">
            <a:spAutoFit/>
          </a:bodyPr>
          <a:lstStyle/>
          <a:p>
            <a:pPr>
              <a:defRPr sz="2400" b="1">
                <a:solidFill>
                  <a:srgbClr val="F8FAFC"/>
                </a:solidFill>
                <a:latin typeface="Arial"/>
              </a:defRPr>
            </a:pPr>
            <a:r>
              <a:t>Mục 7.4: Lớp Keys &amp; Cơ chế mô phỏng phím chức năng</a:t>
            </a:r>
          </a:p>
        </p:txBody>
      </p:sp>
      <p:sp>
        <p:nvSpPr>
          <p:cNvPr id="5" name="Rectangle 4"/>
          <p:cNvSpPr/>
          <p:nvPr/>
        </p:nvSpPr>
        <p:spPr>
          <a:xfrm>
            <a:off x="731520" y="123444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320040"/>
          </a:xfrm>
          <a:prstGeom prst="rect">
            <a:avLst/>
          </a:prstGeom>
          <a:noFill/>
        </p:spPr>
        <p:txBody>
          <a:bodyPr wrap="none">
            <a:spAutoFit/>
          </a:bodyPr>
          <a:lstStyle/>
          <a:p>
            <a:pPr>
              <a:defRPr sz="1000">
                <a:solidFill>
                  <a:srgbClr val="94A3B8"/>
                </a:solidFill>
                <a:latin typeface="Arial"/>
              </a:defRPr>
            </a:pPr>
            <a:r>
              <a:t>Kiểm thử phần mềm tự động | Nhóm W1 – Đề tài: Nhập liệu &amp; phím đặc biệt (Selenium Python)</a:t>
            </a:r>
          </a:p>
        </p:txBody>
      </p:sp>
      <p:sp>
        <p:nvSpPr>
          <p:cNvPr id="7" name="Rounded Rectangle 6"/>
          <p:cNvSpPr/>
          <p:nvPr/>
        </p:nvSpPr>
        <p:spPr>
          <a:xfrm>
            <a:off x="7315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600" b="1">
                <a:solidFill>
                  <a:srgbClr val="38BDF8"/>
                </a:solidFill>
                <a:latin typeface="Arial"/>
              </a:defRPr>
            </a:pPr>
            <a:r>
              <a:t>Bản chất kỹ thuật của selenium.webdriver.common.keys.Keys</a:t>
            </a:r>
          </a:p>
          <a:p>
            <a:pPr>
              <a:spcBef>
                <a:spcPts val="600"/>
              </a:spcBef>
              <a:defRPr sz="1300" b="1">
                <a:solidFill>
                  <a:srgbClr val="38BDF8"/>
                </a:solidFill>
              </a:defRPr>
            </a:pPr>
            <a:r>
              <a:t>• Bảng mã Unicode Private Use Area (PUA):</a:t>
            </a:r>
          </a:p>
          <a:p>
            <a:pPr>
              <a:defRPr sz="1200">
                <a:solidFill>
                  <a:srgbClr val="F8FAFC"/>
                </a:solidFill>
              </a:defRPr>
            </a:pPr>
            <a:r>
              <a:t>   Các phím đặc biệt không có ký tự in ấn thông thường được Selenium định nghĩa dưới dạng các hằng số Unicode nằm trong vùng PUA (từ \ue000 đến \ue03d).</a:t>
            </a:r>
          </a:p>
          <a:p>
            <a:pPr>
              <a:spcBef>
                <a:spcPts val="600"/>
              </a:spcBef>
              <a:defRPr sz="1300" b="1">
                <a:solidFill>
                  <a:srgbClr val="38BDF8"/>
                </a:solidFill>
              </a:defRPr>
            </a:pPr>
            <a:r>
              <a:t>• Keys.ENTER = '\ue007':</a:t>
            </a:r>
          </a:p>
          <a:p>
            <a:pPr>
              <a:defRPr sz="1200">
                <a:solidFill>
                  <a:srgbClr val="F8FAFC"/>
                </a:solidFill>
              </a:defRPr>
            </a:pPr>
            <a:r>
              <a:t>   Mô phỏng phím Enter / Return trên bàn phím cứng.</a:t>
            </a:r>
          </a:p>
          <a:p>
            <a:pPr>
              <a:spcBef>
                <a:spcPts val="600"/>
              </a:spcBef>
              <a:defRPr sz="1300" b="1">
                <a:solidFill>
                  <a:srgbClr val="38BDF8"/>
                </a:solidFill>
              </a:defRPr>
            </a:pPr>
            <a:r>
              <a:t>• Keys.TAB = '\ue004':</a:t>
            </a:r>
          </a:p>
          <a:p>
            <a:pPr>
              <a:defRPr sz="1200">
                <a:solidFill>
                  <a:srgbClr val="F8FAFC"/>
                </a:solidFill>
              </a:defRPr>
            </a:pPr>
            <a:r>
              <a:t>   Mô phỏng phím chuyển tiêu điểm Tab.</a:t>
            </a:r>
          </a:p>
          <a:p>
            <a:pPr>
              <a:spcBef>
                <a:spcPts val="600"/>
              </a:spcBef>
              <a:defRPr sz="1300" b="1">
                <a:solidFill>
                  <a:srgbClr val="38BDF8"/>
                </a:solidFill>
              </a:defRPr>
            </a:pPr>
            <a:r>
              <a:t>• Keys.ARROW_UP = '\ue013':</a:t>
            </a:r>
          </a:p>
          <a:p>
            <a:pPr>
              <a:defRPr sz="1200">
                <a:solidFill>
                  <a:srgbClr val="F8FAFC"/>
                </a:solidFill>
              </a:defRPr>
            </a:pPr>
            <a:r>
              <a:t>   Mô phỏng phím điều hướng mũi tên lên.</a:t>
            </a:r>
          </a:p>
          <a:p>
            <a:pPr>
              <a:spcBef>
                <a:spcPts val="600"/>
              </a:spcBef>
              <a:defRPr sz="1300" b="1">
                <a:solidFill>
                  <a:srgbClr val="38BDF8"/>
                </a:solidFill>
              </a:defRPr>
            </a:pPr>
            <a:r>
              <a:t>• Chuỗi sự kiện trình duyệt phát ra:</a:t>
            </a:r>
          </a:p>
          <a:p>
            <a:pPr>
              <a:defRPr sz="1200">
                <a:solidFill>
                  <a:srgbClr val="F8FAFC"/>
                </a:solidFill>
              </a:defRPr>
            </a:pPr>
            <a:r>
              <a:t>   Khi dùng send_keys(Keys.*), trình duyệt kích hoạt đầy đủ chuỗi sự kiện: keydown -&gt; keypress (nếu có) -&gt; keyup, kích hoạt các event listener của JavaScript.</a:t>
            </a:r>
          </a:p>
        </p:txBody>
      </p:sp>
      <p:sp>
        <p:nvSpPr>
          <p:cNvPr id="8" name="Rounded Rectangle 7"/>
          <p:cNvSpPr/>
          <p:nvPr/>
        </p:nvSpPr>
        <p:spPr>
          <a:xfrm>
            <a:off x="62179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8FAFC"/>
                </a:solidFill>
                <a:latin typeface="Arial"/>
              </a:defRPr>
            </a:pPr>
            <a:r>
              <a:t>Code minh họa sử dụng các phím đặc biệt:</a:t>
            </a:r>
          </a:p>
          <a:p>
            <a:pPr>
              <a:spcBef>
                <a:spcPts val="800"/>
              </a:spcBef>
              <a:defRPr sz="1100">
                <a:solidFill>
                  <a:srgbClr val="34D399"/>
                </a:solidFill>
                <a:latin typeface="Courier New"/>
              </a:defRPr>
            </a:pPr>
            <a:r>
              <a:t>from selenium.webdriver.common.keys import Keys</a:t>
            </a:r>
            <a:br/>
            <a:br/>
            <a:r>
              <a:t># 1. Mô phỏng gõ phím ENTER:</a:t>
            </a:r>
            <a:br/>
            <a:r>
              <a:t>target_input.send_keys(Keys.ENTER)</a:t>
            </a:r>
            <a:br/>
            <a:r>
              <a:t># Phản hồi hiển thị: 'You entered: ENTER'</a:t>
            </a:r>
            <a:br/>
            <a:br/>
            <a:r>
              <a:t># 2. Mô phỏng gõ phím TAB:</a:t>
            </a:r>
            <a:br/>
            <a:r>
              <a:t>target_input.send_keys(Keys.TAB)</a:t>
            </a:r>
            <a:br/>
            <a:r>
              <a:t># Phản hồi hiển thị: 'You entered: TAB'</a:t>
            </a:r>
            <a:br/>
            <a:br/>
            <a:r>
              <a:t># 3. Mô phỏng gõ phím ARROW_UP:</a:t>
            </a:r>
            <a:br/>
            <a:r>
              <a:t>target_input.send_keys(Keys.ARROW_UP)</a:t>
            </a:r>
            <a:br/>
            <a:r>
              <a:t># Trên trang key_presses: 'You entered: UP'</a:t>
            </a:r>
            <a:br/>
            <a:r>
              <a:t># Trên trang inputs (type=number): giá trị tăng từ 50 lên 51!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320040"/>
          </a:xfrm>
          <a:prstGeom prst="rect">
            <a:avLst/>
          </a:prstGeom>
          <a:noFill/>
        </p:spPr>
        <p:txBody>
          <a:bodyPr wrap="none">
            <a:spAutoFit/>
          </a:bodyPr>
          <a:lstStyle/>
          <a:p>
            <a:pPr>
              <a:defRPr sz="1100" b="1">
                <a:solidFill>
                  <a:srgbClr val="38BDF8"/>
                </a:solidFill>
                <a:latin typeface="Arial"/>
              </a:defRPr>
            </a:pPr>
            <a:r>
              <a:t>THỰC HÀNH KIỂM THỬ</a:t>
            </a:r>
          </a:p>
        </p:txBody>
      </p:sp>
      <p:sp>
        <p:nvSpPr>
          <p:cNvPr id="4" name="TextBox 3"/>
          <p:cNvSpPr txBox="1"/>
          <p:nvPr/>
        </p:nvSpPr>
        <p:spPr>
          <a:xfrm>
            <a:off x="731520" y="594360"/>
            <a:ext cx="10728655" cy="594360"/>
          </a:xfrm>
          <a:prstGeom prst="rect">
            <a:avLst/>
          </a:prstGeom>
          <a:noFill/>
        </p:spPr>
        <p:txBody>
          <a:bodyPr wrap="none">
            <a:spAutoFit/>
          </a:bodyPr>
          <a:lstStyle/>
          <a:p>
            <a:pPr>
              <a:defRPr sz="2400" b="1">
                <a:solidFill>
                  <a:srgbClr val="F8FAFC"/>
                </a:solidFill>
                <a:latin typeface="Arial"/>
              </a:defRPr>
            </a:pPr>
            <a:r>
              <a:t>Đối tượng kiểm thử: Phân tích 2 trang /key_presses và /inputs</a:t>
            </a:r>
          </a:p>
        </p:txBody>
      </p:sp>
      <p:sp>
        <p:nvSpPr>
          <p:cNvPr id="5" name="Rectangle 4"/>
          <p:cNvSpPr/>
          <p:nvPr/>
        </p:nvSpPr>
        <p:spPr>
          <a:xfrm>
            <a:off x="731520" y="123444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320040"/>
          </a:xfrm>
          <a:prstGeom prst="rect">
            <a:avLst/>
          </a:prstGeom>
          <a:noFill/>
        </p:spPr>
        <p:txBody>
          <a:bodyPr wrap="none">
            <a:spAutoFit/>
          </a:bodyPr>
          <a:lstStyle/>
          <a:p>
            <a:pPr>
              <a:defRPr sz="1000">
                <a:solidFill>
                  <a:srgbClr val="94A3B8"/>
                </a:solidFill>
                <a:latin typeface="Arial"/>
              </a:defRPr>
            </a:pPr>
            <a:r>
              <a:t>Kiểm thử phần mềm tự động | Nhóm W1 – Đề tài: Nhập liệu &amp; phím đặc biệt (Selenium Python)</a:t>
            </a:r>
          </a:p>
        </p:txBody>
      </p:sp>
      <p:sp>
        <p:nvSpPr>
          <p:cNvPr id="7" name="Rounded Rectangle 6"/>
          <p:cNvSpPr/>
          <p:nvPr/>
        </p:nvSpPr>
        <p:spPr>
          <a:xfrm>
            <a:off x="7315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600" b="1">
                <a:solidFill>
                  <a:srgbClr val="38BDF8"/>
                </a:solidFill>
                <a:latin typeface="Arial"/>
              </a:defRPr>
            </a:pPr>
            <a:r>
              <a:t>Trang 1: /key_presses (Bắt phím người dùng)</a:t>
            </a:r>
          </a:p>
          <a:p>
            <a:pPr>
              <a:spcBef>
                <a:spcPts val="600"/>
              </a:spcBef>
              <a:defRPr sz="1300" b="1">
                <a:solidFill>
                  <a:srgbClr val="38BDF8"/>
                </a:solidFill>
              </a:defRPr>
            </a:pPr>
            <a:r>
              <a:t>• URL kiểm thử:</a:t>
            </a:r>
          </a:p>
          <a:p>
            <a:pPr>
              <a:defRPr sz="1200">
                <a:solidFill>
                  <a:srgbClr val="F8FAFC"/>
                </a:solidFill>
              </a:defRPr>
            </a:pPr>
            <a:r>
              <a:t>   https://the-internet.herokuapp.com/key_presses</a:t>
            </a:r>
          </a:p>
          <a:p>
            <a:pPr>
              <a:spcBef>
                <a:spcPts val="600"/>
              </a:spcBef>
              <a:defRPr sz="1300" b="1">
                <a:solidFill>
                  <a:srgbClr val="38BDF8"/>
                </a:solidFill>
              </a:defRPr>
            </a:pPr>
            <a:r>
              <a:t>• Cấu trúc HTML:</a:t>
            </a:r>
          </a:p>
          <a:p>
            <a:pPr>
              <a:defRPr sz="1200">
                <a:solidFill>
                  <a:srgbClr val="F8FAFC"/>
                </a:solidFill>
              </a:defRPr>
            </a:pPr>
            <a:r>
              <a:t>   &lt;form&gt;&lt;input id='target' type='text'&gt;&lt;/form&gt;</a:t>
            </a:r>
            <a:br/>
            <a:r>
              <a:t>&lt;p id='result' style='color:green'&gt;&lt;/p&gt;</a:t>
            </a:r>
          </a:p>
          <a:p>
            <a:pPr>
              <a:spcBef>
                <a:spcPts val="600"/>
              </a:spcBef>
              <a:defRPr sz="1300" b="1">
                <a:solidFill>
                  <a:srgbClr val="38BDF8"/>
                </a:solidFill>
              </a:defRPr>
            </a:pPr>
            <a:r>
              <a:t>• Cơ chế xử lý JavaScript trên trang:</a:t>
            </a:r>
          </a:p>
          <a:p>
            <a:pPr>
              <a:defRPr sz="1200">
                <a:solidFill>
                  <a:srgbClr val="F8FAFC"/>
                </a:solidFill>
              </a:defRPr>
            </a:pPr>
            <a:r>
              <a:t>   Trang sử dụng jQuery gắn lắng nghe sự kiện trên toàn tài liệu: $(document).keydown(function(event){ log('You entered: ' + keyboardMap[event.which]); });</a:t>
            </a:r>
          </a:p>
          <a:p>
            <a:pPr>
              <a:spcBef>
                <a:spcPts val="600"/>
              </a:spcBef>
              <a:defRPr sz="1300" b="1">
                <a:solidFill>
                  <a:srgbClr val="38BDF8"/>
                </a:solidFill>
              </a:defRPr>
            </a:pPr>
            <a:r>
              <a:t>• Thách thức kiểm thử:</a:t>
            </a:r>
          </a:p>
          <a:p>
            <a:pPr>
              <a:defRPr sz="1200">
                <a:solidFill>
                  <a:srgbClr val="F8FAFC"/>
                </a:solidFill>
              </a:defRPr>
            </a:pPr>
            <a:r>
              <a:t>   Do input nằm trong thẻ form không có thuộc tính chặn submit, việc gõ Enter sẽ reload trang làm mất phần tử. Cần dùng execute_script để can thiệp preventDefault().</a:t>
            </a:r>
          </a:p>
        </p:txBody>
      </p:sp>
      <p:sp>
        <p:nvSpPr>
          <p:cNvPr id="8" name="Rounded Rectangle 7"/>
          <p:cNvSpPr/>
          <p:nvPr/>
        </p:nvSpPr>
        <p:spPr>
          <a:xfrm>
            <a:off x="62179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600" b="1">
                <a:solidFill>
                  <a:srgbClr val="38BDF8"/>
                </a:solidFill>
                <a:latin typeface="Arial"/>
              </a:defRPr>
            </a:pPr>
            <a:r>
              <a:t>Trang 2: /inputs (Xử lý trường nhập số)</a:t>
            </a:r>
          </a:p>
          <a:p>
            <a:pPr>
              <a:spcBef>
                <a:spcPts val="600"/>
              </a:spcBef>
              <a:defRPr sz="1300" b="1">
                <a:solidFill>
                  <a:srgbClr val="34D399"/>
                </a:solidFill>
              </a:defRPr>
            </a:pPr>
            <a:r>
              <a:t>• URL kiểm thử:</a:t>
            </a:r>
          </a:p>
          <a:p>
            <a:pPr>
              <a:defRPr sz="1200">
                <a:solidFill>
                  <a:srgbClr val="F8FAFC"/>
                </a:solidFill>
              </a:defRPr>
            </a:pPr>
            <a:r>
              <a:t>   https://the-internet.herokuapp.com/inputs</a:t>
            </a:r>
          </a:p>
          <a:p>
            <a:pPr>
              <a:spcBef>
                <a:spcPts val="600"/>
              </a:spcBef>
              <a:defRPr sz="1300" b="1">
                <a:solidFill>
                  <a:srgbClr val="34D399"/>
                </a:solidFill>
              </a:defRPr>
            </a:pPr>
            <a:r>
              <a:t>• Cấu trúc HTML:</a:t>
            </a:r>
          </a:p>
          <a:p>
            <a:pPr>
              <a:defRPr sz="1200">
                <a:solidFill>
                  <a:srgbClr val="F8FAFC"/>
                </a:solidFill>
              </a:defRPr>
            </a:pPr>
            <a:r>
              <a:t>   &lt;div class='example'&gt;</a:t>
            </a:r>
            <a:br/>
            <a:r>
              <a:t>  &lt;p&gt;Number&lt;/p&gt;</a:t>
            </a:r>
            <a:br/>
            <a:r>
              <a:t>  &lt;input type='number'&gt;</a:t>
            </a:r>
            <a:br/>
            <a:r>
              <a:t>&lt;/div&gt;</a:t>
            </a:r>
          </a:p>
          <a:p>
            <a:pPr>
              <a:spcBef>
                <a:spcPts val="600"/>
              </a:spcBef>
              <a:defRPr sz="1300" b="1">
                <a:solidFill>
                  <a:srgbClr val="34D399"/>
                </a:solidFill>
              </a:defRPr>
            </a:pPr>
            <a:r>
              <a:t>• Đặc tính của thẻ input type='number':</a:t>
            </a:r>
          </a:p>
          <a:p>
            <a:pPr>
              <a:defRPr sz="1200">
                <a:solidFill>
                  <a:srgbClr val="F8FAFC"/>
                </a:solidFill>
              </a:defRPr>
            </a:pPr>
            <a:r>
              <a:t>   Chỉ nhận ký tự số. Trình duyệt tự động tích hợp cơ chế tăng/giảm giá trị khi người dùng nhấn các phím mũi tên lên/xuống (Arrow Up / Arrow Down).</a:t>
            </a:r>
          </a:p>
          <a:p>
            <a:pPr>
              <a:spcBef>
                <a:spcPts val="600"/>
              </a:spcBef>
              <a:defRPr sz="1300" b="1">
                <a:solidFill>
                  <a:srgbClr val="34D399"/>
                </a:solidFill>
              </a:defRPr>
            </a:pPr>
            <a:r>
              <a:t>• Mục tiêu kiểm thử:</a:t>
            </a:r>
          </a:p>
          <a:p>
            <a:pPr>
              <a:defRPr sz="1200">
                <a:solidFill>
                  <a:srgbClr val="F8FAFC"/>
                </a:solidFill>
              </a:defRPr>
            </a:pPr>
            <a:r>
              <a:t>   Xác thực thuộc tính type, kiểm tra nhập chuỗi số '50', kiểm tra nhấn phím Keys.ARROW_UP tăng thành '51', và kiểm tra làm rỗng bằng hàm clear().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320040"/>
          </a:xfrm>
          <a:prstGeom prst="rect">
            <a:avLst/>
          </a:prstGeom>
          <a:noFill/>
        </p:spPr>
        <p:txBody>
          <a:bodyPr wrap="none">
            <a:spAutoFit/>
          </a:bodyPr>
          <a:lstStyle/>
          <a:p>
            <a:pPr>
              <a:defRPr sz="1100" b="1">
                <a:solidFill>
                  <a:srgbClr val="38BDF8"/>
                </a:solidFill>
                <a:latin typeface="Arial"/>
              </a:defRPr>
            </a:pPr>
            <a:r>
              <a:t>THỰC HÀNH KIỂM THỬ</a:t>
            </a:r>
          </a:p>
        </p:txBody>
      </p:sp>
      <p:sp>
        <p:nvSpPr>
          <p:cNvPr id="4" name="TextBox 3"/>
          <p:cNvSpPr txBox="1"/>
          <p:nvPr/>
        </p:nvSpPr>
        <p:spPr>
          <a:xfrm>
            <a:off x="731520" y="594360"/>
            <a:ext cx="10728655" cy="594360"/>
          </a:xfrm>
          <a:prstGeom prst="rect">
            <a:avLst/>
          </a:prstGeom>
          <a:noFill/>
        </p:spPr>
        <p:txBody>
          <a:bodyPr wrap="none">
            <a:spAutoFit/>
          </a:bodyPr>
          <a:lstStyle/>
          <a:p>
            <a:pPr>
              <a:defRPr sz="2400" b="1">
                <a:solidFill>
                  <a:srgbClr val="F8FAFC"/>
                </a:solidFill>
                <a:latin typeface="Arial"/>
              </a:defRPr>
            </a:pPr>
            <a:r>
              <a:t>Bảng thiết kế 6 kịch bản kiểm thử chi tiết (Test Cases)</a:t>
            </a:r>
          </a:p>
        </p:txBody>
      </p:sp>
      <p:sp>
        <p:nvSpPr>
          <p:cNvPr id="5" name="Rectangle 4"/>
          <p:cNvSpPr/>
          <p:nvPr/>
        </p:nvSpPr>
        <p:spPr>
          <a:xfrm>
            <a:off x="731520" y="123444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320040"/>
          </a:xfrm>
          <a:prstGeom prst="rect">
            <a:avLst/>
          </a:prstGeom>
          <a:noFill/>
        </p:spPr>
        <p:txBody>
          <a:bodyPr wrap="none">
            <a:spAutoFit/>
          </a:bodyPr>
          <a:lstStyle/>
          <a:p>
            <a:pPr>
              <a:defRPr sz="1000">
                <a:solidFill>
                  <a:srgbClr val="94A3B8"/>
                </a:solidFill>
                <a:latin typeface="Arial"/>
              </a:defRPr>
            </a:pPr>
            <a:r>
              <a:t>Kiểm thử phần mềm tự động | Nhóm W1 – Đề tài: Nhập liệu &amp; phím đặc biệt (Selenium Python)</a:t>
            </a:r>
          </a:p>
        </p:txBody>
      </p:sp>
      <p:graphicFrame>
        <p:nvGraphicFramePr>
          <p:cNvPr id="7" name="Table 6"/>
          <p:cNvGraphicFramePr>
            <a:graphicFrameLocks noGrp="1"/>
          </p:cNvGraphicFramePr>
          <p:nvPr/>
        </p:nvGraphicFramePr>
        <p:xfrm>
          <a:off x="731520" y="1463040"/>
          <a:ext cx="10728655" cy="4572000"/>
        </p:xfrm>
        <a:graphic>
          <a:graphicData uri="http://schemas.openxmlformats.org/drawingml/2006/table">
            <a:tbl>
              <a:tblPr firstRow="1" bandRow="1">
                <a:tableStyleId>{5C22544A-7EE6-4342-B048-85BDC9FD1C3A}</a:tableStyleId>
              </a:tblPr>
              <a:tblGrid>
                <a:gridCol w="914400"/>
                <a:gridCol w="2468880"/>
                <a:gridCol w="1463040"/>
                <a:gridCol w="2651760"/>
                <a:gridCol w="2194560"/>
                <a:gridCol w="1036015"/>
              </a:tblGrid>
              <a:tr h="653142">
                <a:tc>
                  <a:txBody>
                    <a:bodyPr/>
                    <a:lstStyle/>
                    <a:p>
                      <a:pPr>
                        <a:defRPr b="1" sz="1300">
                          <a:solidFill>
                            <a:srgbClr val="38BDF8"/>
                          </a:solidFill>
                        </a:defRPr>
                      </a:pPr>
                      <a:r>
                        <a:t>Mã TC</a:t>
                      </a:r>
                    </a:p>
                  </a:txBody>
                  <a:tcPr>
                    <a:solidFill>
                      <a:srgbClr val="1E293B"/>
                    </a:solidFill>
                  </a:tcPr>
                </a:tc>
                <a:tc>
                  <a:txBody>
                    <a:bodyPr/>
                    <a:lstStyle/>
                    <a:p>
                      <a:pPr>
                        <a:defRPr b="1" sz="1300">
                          <a:solidFill>
                            <a:srgbClr val="38BDF8"/>
                          </a:solidFill>
                        </a:defRPr>
                      </a:pPr>
                      <a:r>
                        <a:t>Tên ca kiểm thử</a:t>
                      </a:r>
                    </a:p>
                  </a:txBody>
                  <a:tcPr>
                    <a:solidFill>
                      <a:srgbClr val="1E293B"/>
                    </a:solidFill>
                  </a:tcPr>
                </a:tc>
                <a:tc>
                  <a:txBody>
                    <a:bodyPr/>
                    <a:lstStyle/>
                    <a:p>
                      <a:pPr>
                        <a:defRPr b="1" sz="1300">
                          <a:solidFill>
                            <a:srgbClr val="38BDF8"/>
                          </a:solidFill>
                        </a:defRPr>
                      </a:pPr>
                      <a:r>
                        <a:t>Trang</a:t>
                      </a:r>
                    </a:p>
                  </a:txBody>
                  <a:tcPr>
                    <a:solidFill>
                      <a:srgbClr val="1E293B"/>
                    </a:solidFill>
                  </a:tcPr>
                </a:tc>
                <a:tc>
                  <a:txBody>
                    <a:bodyPr/>
                    <a:lstStyle/>
                    <a:p>
                      <a:pPr>
                        <a:defRPr b="1" sz="1300">
                          <a:solidFill>
                            <a:srgbClr val="38BDF8"/>
                          </a:solidFill>
                        </a:defRPr>
                      </a:pPr>
                      <a:r>
                        <a:t>Hàm sử dụng</a:t>
                      </a:r>
                    </a:p>
                  </a:txBody>
                  <a:tcPr>
                    <a:solidFill>
                      <a:srgbClr val="1E293B"/>
                    </a:solidFill>
                  </a:tcPr>
                </a:tc>
                <a:tc>
                  <a:txBody>
                    <a:bodyPr/>
                    <a:lstStyle/>
                    <a:p>
                      <a:pPr>
                        <a:defRPr b="1" sz="1300">
                          <a:solidFill>
                            <a:srgbClr val="38BDF8"/>
                          </a:solidFill>
                        </a:defRPr>
                      </a:pPr>
                      <a:r>
                        <a:t>Kết quả mong đợi</a:t>
                      </a:r>
                    </a:p>
                  </a:txBody>
                  <a:tcPr>
                    <a:solidFill>
                      <a:srgbClr val="1E293B"/>
                    </a:solidFill>
                  </a:tcPr>
                </a:tc>
                <a:tc>
                  <a:txBody>
                    <a:bodyPr/>
                    <a:lstStyle/>
                    <a:p>
                      <a:pPr>
                        <a:defRPr b="1" sz="1300">
                          <a:solidFill>
                            <a:srgbClr val="38BDF8"/>
                          </a:solidFill>
                        </a:defRPr>
                      </a:pPr>
                      <a:r>
                        <a:t>Kết quả</a:t>
                      </a:r>
                    </a:p>
                  </a:txBody>
                  <a:tcPr>
                    <a:solidFill>
                      <a:srgbClr val="1E293B"/>
                    </a:solidFill>
                  </a:tcPr>
                </a:tc>
              </a:tr>
              <a:tr h="653142">
                <a:tc>
                  <a:txBody>
                    <a:bodyPr/>
                    <a:lstStyle/>
                    <a:p>
                      <a:pPr>
                        <a:defRPr sz="1200" b="1">
                          <a:solidFill>
                            <a:srgbClr val="93C5FD"/>
                          </a:solidFill>
                        </a:defRPr>
                      </a:pPr>
                      <a:r>
                        <a:t>TC01</a:t>
                      </a:r>
                    </a:p>
                  </a:txBody>
                  <a:tcPr>
                    <a:solidFill>
                      <a:srgbClr val="0B1329"/>
                    </a:solidFill>
                  </a:tcPr>
                </a:tc>
                <a:tc>
                  <a:txBody>
                    <a:bodyPr/>
                    <a:lstStyle/>
                    <a:p>
                      <a:pPr>
                        <a:defRPr sz="1200">
                          <a:solidFill>
                            <a:srgbClr val="F8FAFC"/>
                          </a:solidFill>
                        </a:defRPr>
                      </a:pPr>
                      <a:r>
                        <a:t>Gõ phím ENTER</a:t>
                      </a:r>
                    </a:p>
                  </a:txBody>
                  <a:tcPr>
                    <a:solidFill>
                      <a:srgbClr val="0B1329"/>
                    </a:solidFill>
                  </a:tcPr>
                </a:tc>
                <a:tc>
                  <a:txBody>
                    <a:bodyPr/>
                    <a:lstStyle/>
                    <a:p>
                      <a:pPr>
                        <a:defRPr sz="1200">
                          <a:solidFill>
                            <a:srgbClr val="F8FAFC"/>
                          </a:solidFill>
                        </a:defRPr>
                      </a:pPr>
                      <a:r>
                        <a:t>/key_presses</a:t>
                      </a:r>
                    </a:p>
                  </a:txBody>
                  <a:tcPr>
                    <a:solidFill>
                      <a:srgbClr val="0B1329"/>
                    </a:solidFill>
                  </a:tcPr>
                </a:tc>
                <a:tc>
                  <a:txBody>
                    <a:bodyPr/>
                    <a:lstStyle/>
                    <a:p>
                      <a:pPr>
                        <a:defRPr sz="1200">
                          <a:solidFill>
                            <a:srgbClr val="F8FAFC"/>
                          </a:solidFill>
                        </a:defRPr>
                      </a:pPr>
                      <a:r>
                        <a:t>get, By.ID, send_keys, Keys.ENTER, text</a:t>
                      </a:r>
                    </a:p>
                  </a:txBody>
                  <a:tcPr>
                    <a:solidFill>
                      <a:srgbClr val="0B1329"/>
                    </a:solidFill>
                  </a:tcPr>
                </a:tc>
                <a:tc>
                  <a:txBody>
                    <a:bodyPr/>
                    <a:lstStyle/>
                    <a:p>
                      <a:pPr>
                        <a:defRPr sz="1200">
                          <a:solidFill>
                            <a:srgbClr val="F8FAFC"/>
                          </a:solidFill>
                        </a:defRPr>
                      </a:pPr>
                      <a:r>
                        <a:t>Text hiển thị: 'You entered: ENTER'</a:t>
                      </a:r>
                    </a:p>
                  </a:txBody>
                  <a:tcPr>
                    <a:solidFill>
                      <a:srgbClr val="0B1329"/>
                    </a:solidFill>
                  </a:tcPr>
                </a:tc>
                <a:tc>
                  <a:txBody>
                    <a:bodyPr/>
                    <a:lstStyle/>
                    <a:p>
                      <a:pPr>
                        <a:defRPr sz="1200" b="1">
                          <a:solidFill>
                            <a:srgbClr val="34D399"/>
                          </a:solidFill>
                        </a:defRPr>
                      </a:pPr>
                      <a:r>
                        <a:t>PASSED</a:t>
                      </a:r>
                    </a:p>
                  </a:txBody>
                  <a:tcPr>
                    <a:solidFill>
                      <a:srgbClr val="0B1329"/>
                    </a:solidFill>
                  </a:tcPr>
                </a:tc>
              </a:tr>
              <a:tr h="653142">
                <a:tc>
                  <a:txBody>
                    <a:bodyPr/>
                    <a:lstStyle/>
                    <a:p>
                      <a:pPr>
                        <a:defRPr sz="1200" b="1">
                          <a:solidFill>
                            <a:srgbClr val="93C5FD"/>
                          </a:solidFill>
                        </a:defRPr>
                      </a:pPr>
                      <a:r>
                        <a:t>TC02</a:t>
                      </a:r>
                    </a:p>
                  </a:txBody>
                  <a:tcPr>
                    <a:solidFill>
                      <a:srgbClr val="0B1329"/>
                    </a:solidFill>
                  </a:tcPr>
                </a:tc>
                <a:tc>
                  <a:txBody>
                    <a:bodyPr/>
                    <a:lstStyle/>
                    <a:p>
                      <a:pPr>
                        <a:defRPr sz="1200">
                          <a:solidFill>
                            <a:srgbClr val="F8FAFC"/>
                          </a:solidFill>
                        </a:defRPr>
                      </a:pPr>
                      <a:r>
                        <a:t>Gõ phím TAB</a:t>
                      </a:r>
                    </a:p>
                  </a:txBody>
                  <a:tcPr>
                    <a:solidFill>
                      <a:srgbClr val="0B1329"/>
                    </a:solidFill>
                  </a:tcPr>
                </a:tc>
                <a:tc>
                  <a:txBody>
                    <a:bodyPr/>
                    <a:lstStyle/>
                    <a:p>
                      <a:pPr>
                        <a:defRPr sz="1200">
                          <a:solidFill>
                            <a:srgbClr val="F8FAFC"/>
                          </a:solidFill>
                        </a:defRPr>
                      </a:pPr>
                      <a:r>
                        <a:t>/key_presses</a:t>
                      </a:r>
                    </a:p>
                  </a:txBody>
                  <a:tcPr>
                    <a:solidFill>
                      <a:srgbClr val="0B1329"/>
                    </a:solidFill>
                  </a:tcPr>
                </a:tc>
                <a:tc>
                  <a:txBody>
                    <a:bodyPr/>
                    <a:lstStyle/>
                    <a:p>
                      <a:pPr>
                        <a:defRPr sz="1200">
                          <a:solidFill>
                            <a:srgbClr val="F8FAFC"/>
                          </a:solidFill>
                        </a:defRPr>
                      </a:pPr>
                      <a:r>
                        <a:t>get, By.ID, send_keys, Keys.TAB, text</a:t>
                      </a:r>
                    </a:p>
                  </a:txBody>
                  <a:tcPr>
                    <a:solidFill>
                      <a:srgbClr val="0B1329"/>
                    </a:solidFill>
                  </a:tcPr>
                </a:tc>
                <a:tc>
                  <a:txBody>
                    <a:bodyPr/>
                    <a:lstStyle/>
                    <a:p>
                      <a:pPr>
                        <a:defRPr sz="1200">
                          <a:solidFill>
                            <a:srgbClr val="F8FAFC"/>
                          </a:solidFill>
                        </a:defRPr>
                      </a:pPr>
                      <a:r>
                        <a:t>Text hiển thị: 'You entered: TAB'</a:t>
                      </a:r>
                    </a:p>
                  </a:txBody>
                  <a:tcPr>
                    <a:solidFill>
                      <a:srgbClr val="0B1329"/>
                    </a:solidFill>
                  </a:tcPr>
                </a:tc>
                <a:tc>
                  <a:txBody>
                    <a:bodyPr/>
                    <a:lstStyle/>
                    <a:p>
                      <a:pPr>
                        <a:defRPr sz="1200" b="1">
                          <a:solidFill>
                            <a:srgbClr val="34D399"/>
                          </a:solidFill>
                        </a:defRPr>
                      </a:pPr>
                      <a:r>
                        <a:t>PASSED</a:t>
                      </a:r>
                    </a:p>
                  </a:txBody>
                  <a:tcPr>
                    <a:solidFill>
                      <a:srgbClr val="0B1329"/>
                    </a:solidFill>
                  </a:tcPr>
                </a:tc>
              </a:tr>
              <a:tr h="653142">
                <a:tc>
                  <a:txBody>
                    <a:bodyPr/>
                    <a:lstStyle/>
                    <a:p>
                      <a:pPr>
                        <a:defRPr sz="1200" b="1">
                          <a:solidFill>
                            <a:srgbClr val="93C5FD"/>
                          </a:solidFill>
                        </a:defRPr>
                      </a:pPr>
                      <a:r>
                        <a:t>TC03</a:t>
                      </a:r>
                    </a:p>
                  </a:txBody>
                  <a:tcPr>
                    <a:solidFill>
                      <a:srgbClr val="0B1329"/>
                    </a:solidFill>
                  </a:tcPr>
                </a:tc>
                <a:tc>
                  <a:txBody>
                    <a:bodyPr/>
                    <a:lstStyle/>
                    <a:p>
                      <a:pPr>
                        <a:defRPr sz="1200">
                          <a:solidFill>
                            <a:srgbClr val="F8FAFC"/>
                          </a:solidFill>
                        </a:defRPr>
                      </a:pPr>
                      <a:r>
                        <a:t>Gõ phím ARROW_UP</a:t>
                      </a:r>
                    </a:p>
                  </a:txBody>
                  <a:tcPr>
                    <a:solidFill>
                      <a:srgbClr val="0B1329"/>
                    </a:solidFill>
                  </a:tcPr>
                </a:tc>
                <a:tc>
                  <a:txBody>
                    <a:bodyPr/>
                    <a:lstStyle/>
                    <a:p>
                      <a:pPr>
                        <a:defRPr sz="1200">
                          <a:solidFill>
                            <a:srgbClr val="F8FAFC"/>
                          </a:solidFill>
                        </a:defRPr>
                      </a:pPr>
                      <a:r>
                        <a:t>/key_presses</a:t>
                      </a:r>
                    </a:p>
                  </a:txBody>
                  <a:tcPr>
                    <a:solidFill>
                      <a:srgbClr val="0B1329"/>
                    </a:solidFill>
                  </a:tcPr>
                </a:tc>
                <a:tc>
                  <a:txBody>
                    <a:bodyPr/>
                    <a:lstStyle/>
                    <a:p>
                      <a:pPr>
                        <a:defRPr sz="1200">
                          <a:solidFill>
                            <a:srgbClr val="F8FAFC"/>
                          </a:solidFill>
                        </a:defRPr>
                      </a:pPr>
                      <a:r>
                        <a:t>get, By.ID, send_keys, Keys.ARROW_UP, text</a:t>
                      </a:r>
                    </a:p>
                  </a:txBody>
                  <a:tcPr>
                    <a:solidFill>
                      <a:srgbClr val="0B1329"/>
                    </a:solidFill>
                  </a:tcPr>
                </a:tc>
                <a:tc>
                  <a:txBody>
                    <a:bodyPr/>
                    <a:lstStyle/>
                    <a:p>
                      <a:pPr>
                        <a:defRPr sz="1200">
                          <a:solidFill>
                            <a:srgbClr val="F8FAFC"/>
                          </a:solidFill>
                        </a:defRPr>
                      </a:pPr>
                      <a:r>
                        <a:t>Text hiển thị: 'You entered: UP'</a:t>
                      </a:r>
                    </a:p>
                  </a:txBody>
                  <a:tcPr>
                    <a:solidFill>
                      <a:srgbClr val="0B1329"/>
                    </a:solidFill>
                  </a:tcPr>
                </a:tc>
                <a:tc>
                  <a:txBody>
                    <a:bodyPr/>
                    <a:lstStyle/>
                    <a:p>
                      <a:pPr>
                        <a:defRPr sz="1200" b="1">
                          <a:solidFill>
                            <a:srgbClr val="34D399"/>
                          </a:solidFill>
                        </a:defRPr>
                      </a:pPr>
                      <a:r>
                        <a:t>PASSED</a:t>
                      </a:r>
                    </a:p>
                  </a:txBody>
                  <a:tcPr>
                    <a:solidFill>
                      <a:srgbClr val="0B1329"/>
                    </a:solidFill>
                  </a:tcPr>
                </a:tc>
              </a:tr>
              <a:tr h="653142">
                <a:tc>
                  <a:txBody>
                    <a:bodyPr/>
                    <a:lstStyle/>
                    <a:p>
                      <a:pPr>
                        <a:defRPr sz="1200" b="1">
                          <a:solidFill>
                            <a:srgbClr val="93C5FD"/>
                          </a:solidFill>
                        </a:defRPr>
                      </a:pPr>
                      <a:r>
                        <a:t>TC04</a:t>
                      </a:r>
                    </a:p>
                  </a:txBody>
                  <a:tcPr>
                    <a:solidFill>
                      <a:srgbClr val="0B1329"/>
                    </a:solidFill>
                  </a:tcPr>
                </a:tc>
                <a:tc>
                  <a:txBody>
                    <a:bodyPr/>
                    <a:lstStyle/>
                    <a:p>
                      <a:pPr>
                        <a:defRPr sz="1200">
                          <a:solidFill>
                            <a:srgbClr val="F8FAFC"/>
                          </a:solidFill>
                        </a:defRPr>
                      </a:pPr>
                      <a:r>
                        <a:t>Nhập số &amp; đọc giá trị</a:t>
                      </a:r>
                    </a:p>
                  </a:txBody>
                  <a:tcPr>
                    <a:solidFill>
                      <a:srgbClr val="0B1329"/>
                    </a:solidFill>
                  </a:tcPr>
                </a:tc>
                <a:tc>
                  <a:txBody>
                    <a:bodyPr/>
                    <a:lstStyle/>
                    <a:p>
                      <a:pPr>
                        <a:defRPr sz="1200">
                          <a:solidFill>
                            <a:srgbClr val="F8FAFC"/>
                          </a:solidFill>
                        </a:defRPr>
                      </a:pPr>
                      <a:r>
                        <a:t>/inputs</a:t>
                      </a:r>
                    </a:p>
                  </a:txBody>
                  <a:tcPr>
                    <a:solidFill>
                      <a:srgbClr val="0B1329"/>
                    </a:solidFill>
                  </a:tcPr>
                </a:tc>
                <a:tc>
                  <a:txBody>
                    <a:bodyPr/>
                    <a:lstStyle/>
                    <a:p>
                      <a:pPr>
                        <a:defRPr sz="1200">
                          <a:solidFill>
                            <a:srgbClr val="F8FAFC"/>
                          </a:solidFill>
                        </a:defRPr>
                      </a:pPr>
                      <a:r>
                        <a:t>get, find_element, send_keys, get_attribute</a:t>
                      </a:r>
                    </a:p>
                  </a:txBody>
                  <a:tcPr>
                    <a:solidFill>
                      <a:srgbClr val="0B1329"/>
                    </a:solidFill>
                  </a:tcPr>
                </a:tc>
                <a:tc>
                  <a:txBody>
                    <a:bodyPr/>
                    <a:lstStyle/>
                    <a:p>
                      <a:pPr>
                        <a:defRPr sz="1200">
                          <a:solidFill>
                            <a:srgbClr val="F8FAFC"/>
                          </a:solidFill>
                        </a:defRPr>
                      </a:pPr>
                      <a:r>
                        <a:t>type='number', value='50'</a:t>
                      </a:r>
                    </a:p>
                  </a:txBody>
                  <a:tcPr>
                    <a:solidFill>
                      <a:srgbClr val="0B1329"/>
                    </a:solidFill>
                  </a:tcPr>
                </a:tc>
                <a:tc>
                  <a:txBody>
                    <a:bodyPr/>
                    <a:lstStyle/>
                    <a:p>
                      <a:pPr>
                        <a:defRPr sz="1200" b="1">
                          <a:solidFill>
                            <a:srgbClr val="34D399"/>
                          </a:solidFill>
                        </a:defRPr>
                      </a:pPr>
                      <a:r>
                        <a:t>PASSED</a:t>
                      </a:r>
                    </a:p>
                  </a:txBody>
                  <a:tcPr>
                    <a:solidFill>
                      <a:srgbClr val="0B1329"/>
                    </a:solidFill>
                  </a:tcPr>
                </a:tc>
              </a:tr>
              <a:tr h="653142">
                <a:tc>
                  <a:txBody>
                    <a:bodyPr/>
                    <a:lstStyle/>
                    <a:p>
                      <a:pPr>
                        <a:defRPr sz="1200" b="1">
                          <a:solidFill>
                            <a:srgbClr val="93C5FD"/>
                          </a:solidFill>
                        </a:defRPr>
                      </a:pPr>
                      <a:r>
                        <a:t>TC05</a:t>
                      </a:r>
                    </a:p>
                  </a:txBody>
                  <a:tcPr>
                    <a:solidFill>
                      <a:srgbClr val="0B1329"/>
                    </a:solidFill>
                  </a:tcPr>
                </a:tc>
                <a:tc>
                  <a:txBody>
                    <a:bodyPr/>
                    <a:lstStyle/>
                    <a:p>
                      <a:pPr>
                        <a:defRPr sz="1200">
                          <a:solidFill>
                            <a:srgbClr val="F8FAFC"/>
                          </a:solidFill>
                        </a:defRPr>
                      </a:pPr>
                      <a:r>
                        <a:t>Tăng số bằng phím lên</a:t>
                      </a:r>
                    </a:p>
                  </a:txBody>
                  <a:tcPr>
                    <a:solidFill>
                      <a:srgbClr val="0B1329"/>
                    </a:solidFill>
                  </a:tcPr>
                </a:tc>
                <a:tc>
                  <a:txBody>
                    <a:bodyPr/>
                    <a:lstStyle/>
                    <a:p>
                      <a:pPr>
                        <a:defRPr sz="1200">
                          <a:solidFill>
                            <a:srgbClr val="F8FAFC"/>
                          </a:solidFill>
                        </a:defRPr>
                      </a:pPr>
                      <a:r>
                        <a:t>/inputs</a:t>
                      </a:r>
                    </a:p>
                  </a:txBody>
                  <a:tcPr>
                    <a:solidFill>
                      <a:srgbClr val="0B1329"/>
                    </a:solidFill>
                  </a:tcPr>
                </a:tc>
                <a:tc>
                  <a:txBody>
                    <a:bodyPr/>
                    <a:lstStyle/>
                    <a:p>
                      <a:pPr>
                        <a:defRPr sz="1200">
                          <a:solidFill>
                            <a:srgbClr val="F8FAFC"/>
                          </a:solidFill>
                        </a:defRPr>
                      </a:pPr>
                      <a:r>
                        <a:t>send_keys, Keys.ARROW_UP, get_attribute</a:t>
                      </a:r>
                    </a:p>
                  </a:txBody>
                  <a:tcPr>
                    <a:solidFill>
                      <a:srgbClr val="0B1329"/>
                    </a:solidFill>
                  </a:tcPr>
                </a:tc>
                <a:tc>
                  <a:txBody>
                    <a:bodyPr/>
                    <a:lstStyle/>
                    <a:p>
                      <a:pPr>
                        <a:defRPr sz="1200">
                          <a:solidFill>
                            <a:srgbClr val="F8FAFC"/>
                          </a:solidFill>
                        </a:defRPr>
                      </a:pPr>
                      <a:r>
                        <a:t>value tăng từ '50' lên '51'</a:t>
                      </a:r>
                    </a:p>
                  </a:txBody>
                  <a:tcPr>
                    <a:solidFill>
                      <a:srgbClr val="0B1329"/>
                    </a:solidFill>
                  </a:tcPr>
                </a:tc>
                <a:tc>
                  <a:txBody>
                    <a:bodyPr/>
                    <a:lstStyle/>
                    <a:p>
                      <a:pPr>
                        <a:defRPr sz="1200" b="1">
                          <a:solidFill>
                            <a:srgbClr val="34D399"/>
                          </a:solidFill>
                        </a:defRPr>
                      </a:pPr>
                      <a:r>
                        <a:t>PASSED</a:t>
                      </a:r>
                    </a:p>
                  </a:txBody>
                  <a:tcPr>
                    <a:solidFill>
                      <a:srgbClr val="0B1329"/>
                    </a:solidFill>
                  </a:tcPr>
                </a:tc>
              </a:tr>
              <a:tr h="653148">
                <a:tc>
                  <a:txBody>
                    <a:bodyPr/>
                    <a:lstStyle/>
                    <a:p>
                      <a:pPr>
                        <a:defRPr sz="1200" b="1">
                          <a:solidFill>
                            <a:srgbClr val="93C5FD"/>
                          </a:solidFill>
                        </a:defRPr>
                      </a:pPr>
                      <a:r>
                        <a:t>TC06</a:t>
                      </a:r>
                    </a:p>
                  </a:txBody>
                  <a:tcPr>
                    <a:solidFill>
                      <a:srgbClr val="0B1329"/>
                    </a:solidFill>
                  </a:tcPr>
                </a:tc>
                <a:tc>
                  <a:txBody>
                    <a:bodyPr/>
                    <a:lstStyle/>
                    <a:p>
                      <a:pPr>
                        <a:defRPr sz="1200">
                          <a:solidFill>
                            <a:srgbClr val="F8FAFC"/>
                          </a:solidFill>
                        </a:defRPr>
                      </a:pPr>
                      <a:r>
                        <a:t>Xoá nội dung ô nhập</a:t>
                      </a:r>
                    </a:p>
                  </a:txBody>
                  <a:tcPr>
                    <a:solidFill>
                      <a:srgbClr val="0B1329"/>
                    </a:solidFill>
                  </a:tcPr>
                </a:tc>
                <a:tc>
                  <a:txBody>
                    <a:bodyPr/>
                    <a:lstStyle/>
                    <a:p>
                      <a:pPr>
                        <a:defRPr sz="1200">
                          <a:solidFill>
                            <a:srgbClr val="F8FAFC"/>
                          </a:solidFill>
                        </a:defRPr>
                      </a:pPr>
                      <a:r>
                        <a:t>/inputs</a:t>
                      </a:r>
                    </a:p>
                  </a:txBody>
                  <a:tcPr>
                    <a:solidFill>
                      <a:srgbClr val="0B1329"/>
                    </a:solidFill>
                  </a:tcPr>
                </a:tc>
                <a:tc>
                  <a:txBody>
                    <a:bodyPr/>
                    <a:lstStyle/>
                    <a:p>
                      <a:pPr>
                        <a:defRPr sz="1200">
                          <a:solidFill>
                            <a:srgbClr val="F8FAFC"/>
                          </a:solidFill>
                        </a:defRPr>
                      </a:pPr>
                      <a:r>
                        <a:t>send_keys, clear, get_attribute</a:t>
                      </a:r>
                    </a:p>
                  </a:txBody>
                  <a:tcPr>
                    <a:solidFill>
                      <a:srgbClr val="0B1329"/>
                    </a:solidFill>
                  </a:tcPr>
                </a:tc>
                <a:tc>
                  <a:txBody>
                    <a:bodyPr/>
                    <a:lstStyle/>
                    <a:p>
                      <a:pPr>
                        <a:defRPr sz="1200">
                          <a:solidFill>
                            <a:srgbClr val="F8FAFC"/>
                          </a:solidFill>
                        </a:defRPr>
                      </a:pPr>
                      <a:r>
                        <a:t>value làm trống về rỗng ''</a:t>
                      </a:r>
                    </a:p>
                  </a:txBody>
                  <a:tcPr>
                    <a:solidFill>
                      <a:srgbClr val="0B1329"/>
                    </a:solidFill>
                  </a:tcPr>
                </a:tc>
                <a:tc>
                  <a:txBody>
                    <a:bodyPr/>
                    <a:lstStyle/>
                    <a:p>
                      <a:pPr>
                        <a:defRPr sz="1200" b="1">
                          <a:solidFill>
                            <a:srgbClr val="34D399"/>
                          </a:solidFill>
                        </a:defRPr>
                      </a:pPr>
                      <a:r>
                        <a:t>PASSED</a:t>
                      </a:r>
                    </a:p>
                  </a:txBody>
                  <a:tcPr>
                    <a:solidFill>
                      <a:srgbClr val="0B1329"/>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320040"/>
          </a:xfrm>
          <a:prstGeom prst="rect">
            <a:avLst/>
          </a:prstGeom>
          <a:noFill/>
        </p:spPr>
        <p:txBody>
          <a:bodyPr wrap="none">
            <a:spAutoFit/>
          </a:bodyPr>
          <a:lstStyle/>
          <a:p>
            <a:pPr>
              <a:defRPr sz="1100" b="1">
                <a:solidFill>
                  <a:srgbClr val="38BDF8"/>
                </a:solidFill>
                <a:latin typeface="Arial"/>
              </a:defRPr>
            </a:pPr>
            <a:r>
              <a:t>TRIỂN KHAI MÃ NGUỒN</a:t>
            </a:r>
          </a:p>
        </p:txBody>
      </p:sp>
      <p:sp>
        <p:nvSpPr>
          <p:cNvPr id="4" name="TextBox 3"/>
          <p:cNvSpPr txBox="1"/>
          <p:nvPr/>
        </p:nvSpPr>
        <p:spPr>
          <a:xfrm>
            <a:off x="731520" y="594360"/>
            <a:ext cx="10728655" cy="594360"/>
          </a:xfrm>
          <a:prstGeom prst="rect">
            <a:avLst/>
          </a:prstGeom>
          <a:noFill/>
        </p:spPr>
        <p:txBody>
          <a:bodyPr wrap="none">
            <a:spAutoFit/>
          </a:bodyPr>
          <a:lstStyle/>
          <a:p>
            <a:pPr>
              <a:defRPr sz="2400" b="1">
                <a:solidFill>
                  <a:srgbClr val="F8FAFC"/>
                </a:solidFill>
                <a:latin typeface="Arial"/>
              </a:defRPr>
            </a:pPr>
            <a:r>
              <a:t>Triển khai mã nguồn: Kiểm thử trang /key_presses (TC01 – TC03)</a:t>
            </a:r>
          </a:p>
        </p:txBody>
      </p:sp>
      <p:sp>
        <p:nvSpPr>
          <p:cNvPr id="5" name="Rectangle 4"/>
          <p:cNvSpPr/>
          <p:nvPr/>
        </p:nvSpPr>
        <p:spPr>
          <a:xfrm>
            <a:off x="731520" y="123444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320040"/>
          </a:xfrm>
          <a:prstGeom prst="rect">
            <a:avLst/>
          </a:prstGeom>
          <a:noFill/>
        </p:spPr>
        <p:txBody>
          <a:bodyPr wrap="none">
            <a:spAutoFit/>
          </a:bodyPr>
          <a:lstStyle/>
          <a:p>
            <a:pPr>
              <a:defRPr sz="1000">
                <a:solidFill>
                  <a:srgbClr val="94A3B8"/>
                </a:solidFill>
                <a:latin typeface="Arial"/>
              </a:defRPr>
            </a:pPr>
            <a:r>
              <a:t>Kiểm thử phần mềm tự động | Nhóm W1 – Đề tài: Nhập liệu &amp; phím đặc biệt (Selenium Python)</a:t>
            </a:r>
          </a:p>
        </p:txBody>
      </p:sp>
      <p:sp>
        <p:nvSpPr>
          <p:cNvPr id="7" name="Rounded Rectangle 6"/>
          <p:cNvSpPr/>
          <p:nvPr/>
        </p:nvSpPr>
        <p:spPr>
          <a:xfrm>
            <a:off x="7315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000" b="1">
                <a:solidFill>
                  <a:srgbClr val="34D399"/>
                </a:solidFill>
                <a:latin typeface="Courier New"/>
              </a:defRPr>
            </a:pPr>
            <a:r>
              <a:t>def test_01_key_presses_enter(self) -&gt; None:</a:t>
            </a:r>
            <a:br/>
            <a:r>
              <a:t>    # 1. Điều hướng bằng hàm get</a:t>
            </a:r>
            <a:br/>
            <a:r>
              <a:t>    self.driver.get('https://.../key_presses')</a:t>
            </a:r>
            <a:br/>
            <a:r>
              <a:t>    </a:t>
            </a:r>
            <a:br/>
            <a:r>
              <a:t>    # 2. Định vị phần tử bằng By.ID</a:t>
            </a:r>
            <a:br/>
            <a:r>
              <a:t>    target = self.driver.find_element(By.ID, 'target')</a:t>
            </a:r>
            <a:br/>
            <a:r>
              <a:t>    </a:t>
            </a:r>
            <a:br/>
            <a:r>
              <a:t>    # Chặn form tự reload bằng JavaScript</a:t>
            </a:r>
            <a:br/>
            <a:r>
              <a:t>    self.driver.execute_script(</a:t>
            </a:r>
            <a:br/>
            <a:r>
              <a:t>        'document.querySelector("form").onsubmit = '</a:t>
            </a:r>
            <a:br/>
            <a:r>
              <a:t>        'function(e){ e.preventDefault(); return false; };'</a:t>
            </a:r>
            <a:br/>
            <a:r>
              <a:t>    )</a:t>
            </a:r>
            <a:br/>
            <a:r>
              <a:t>    </a:t>
            </a:r>
            <a:br/>
            <a:r>
              <a:t>    # 3. Gửi phím đặc biệt bằng send_keys</a:t>
            </a:r>
            <a:br/>
            <a:r>
              <a:t>    target.send_keys(Keys.ENTER)</a:t>
            </a:r>
            <a:br/>
            <a:r>
              <a:t>    </a:t>
            </a:r>
            <a:br/>
            <a:r>
              <a:t>    # 4. Trích xuất text thông báo bằng thuộc tính .text</a:t>
            </a:r>
            <a:br/>
            <a:r>
              <a:t>    result = self.driver.find_element(By.ID, 'result')</a:t>
            </a:r>
            <a:br/>
            <a:r>
              <a:t>    self.assertEqual(result.text, 'You entered: ENTER')</a:t>
            </a:r>
            <a:br/>
            <a:r>
              <a:t>    self.driver.save_screenshot('.../tc01_enter.png')</a:t>
            </a:r>
          </a:p>
        </p:txBody>
      </p:sp>
      <p:sp>
        <p:nvSpPr>
          <p:cNvPr id="8" name="Rounded Rectangle 7"/>
          <p:cNvSpPr/>
          <p:nvPr/>
        </p:nvSpPr>
        <p:spPr>
          <a:xfrm>
            <a:off x="62179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600" b="1">
                <a:solidFill>
                  <a:srgbClr val="38BDF8"/>
                </a:solidFill>
                <a:latin typeface="Arial"/>
              </a:defRPr>
            </a:pPr>
            <a:r>
              <a:t>Giải thích kỹ thuật trọng tâm</a:t>
            </a:r>
          </a:p>
          <a:p>
            <a:pPr>
              <a:spcBef>
                <a:spcPts val="800"/>
              </a:spcBef>
              <a:defRPr sz="1300" b="1">
                <a:solidFill>
                  <a:srgbClr val="38BDF8"/>
                </a:solidFill>
              </a:defRPr>
            </a:pPr>
            <a:r>
              <a:t>• Áp dụng đủ các hàm theo phân công:</a:t>
            </a:r>
          </a:p>
          <a:p>
            <a:pPr>
              <a:defRPr sz="1200">
                <a:solidFill>
                  <a:srgbClr val="F8FAFC"/>
                </a:solidFill>
              </a:defRPr>
            </a:pPr>
            <a:r>
              <a:t>   get, find_element, By.ID, send_keys, Keys.ENTER, Keys.TAB, Keys.ARROW_UP, text, assertEqual.</a:t>
            </a:r>
          </a:p>
          <a:p>
            <a:pPr>
              <a:spcBef>
                <a:spcPts val="800"/>
              </a:spcBef>
              <a:defRPr sz="1300" b="1">
                <a:solidFill>
                  <a:srgbClr val="38BDF8"/>
                </a:solidFill>
              </a:defRPr>
            </a:pPr>
            <a:r>
              <a:t>• Xử lý TC02 (Gõ phím TAB):</a:t>
            </a:r>
          </a:p>
          <a:p>
            <a:pPr>
              <a:defRPr sz="1200">
                <a:solidFill>
                  <a:srgbClr val="F8FAFC"/>
                </a:solidFill>
              </a:defRPr>
            </a:pPr>
            <a:r>
              <a:t>   Phím Keys.TAB kích hoạt sự kiện chuyển tiêu điểm, trang hiển thị kết quả 'You entered: TAB'.</a:t>
            </a:r>
          </a:p>
          <a:p>
            <a:pPr>
              <a:spcBef>
                <a:spcPts val="800"/>
              </a:spcBef>
              <a:defRPr sz="1300" b="1">
                <a:solidFill>
                  <a:srgbClr val="38BDF8"/>
                </a:solidFill>
              </a:defRPr>
            </a:pPr>
            <a:r>
              <a:t>• Xử lý TC03 (Gõ phím ARROW_UP):</a:t>
            </a:r>
          </a:p>
          <a:p>
            <a:pPr>
              <a:defRPr sz="1200">
                <a:solidFill>
                  <a:srgbClr val="F8FAFC"/>
                </a:solidFill>
              </a:defRPr>
            </a:pPr>
            <a:r>
              <a:t>   Phím Keys.ARROW_UP kích hoạt mã phím 38, trang hiển thị kết quả 'You entered: UP'.</a:t>
            </a:r>
          </a:p>
          <a:p>
            <a:pPr>
              <a:spcBef>
                <a:spcPts val="800"/>
              </a:spcBef>
              <a:defRPr sz="1300" b="1">
                <a:solidFill>
                  <a:srgbClr val="38BDF8"/>
                </a:solidFill>
              </a:defRPr>
            </a:pPr>
            <a:r>
              <a:t>• Lưu trữ ảnh minh chứng tự động:</a:t>
            </a:r>
          </a:p>
          <a:p>
            <a:pPr>
              <a:defRPr sz="1200">
                <a:solidFill>
                  <a:srgbClr val="F8FAFC"/>
                </a:solidFill>
              </a:defRPr>
            </a:pPr>
            <a:r>
              <a:t>   Mỗi bài test đều tích hợp save_screenshot() lưu ảnh trực tiếp vào thư mục tuan-06/anh/ để làm bằng chứng kiểm thử.</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320040"/>
          </a:xfrm>
          <a:prstGeom prst="rect">
            <a:avLst/>
          </a:prstGeom>
          <a:noFill/>
        </p:spPr>
        <p:txBody>
          <a:bodyPr wrap="none">
            <a:spAutoFit/>
          </a:bodyPr>
          <a:lstStyle/>
          <a:p>
            <a:pPr>
              <a:defRPr sz="1100" b="1">
                <a:solidFill>
                  <a:srgbClr val="38BDF8"/>
                </a:solidFill>
                <a:latin typeface="Arial"/>
              </a:defRPr>
            </a:pPr>
            <a:r>
              <a:t>TRIỂN KHAI MÃ NGUỒN</a:t>
            </a:r>
          </a:p>
        </p:txBody>
      </p:sp>
      <p:sp>
        <p:nvSpPr>
          <p:cNvPr id="4" name="TextBox 3"/>
          <p:cNvSpPr txBox="1"/>
          <p:nvPr/>
        </p:nvSpPr>
        <p:spPr>
          <a:xfrm>
            <a:off x="731520" y="594360"/>
            <a:ext cx="10728655" cy="594360"/>
          </a:xfrm>
          <a:prstGeom prst="rect">
            <a:avLst/>
          </a:prstGeom>
          <a:noFill/>
        </p:spPr>
        <p:txBody>
          <a:bodyPr wrap="none">
            <a:spAutoFit/>
          </a:bodyPr>
          <a:lstStyle/>
          <a:p>
            <a:pPr>
              <a:defRPr sz="2400" b="1">
                <a:solidFill>
                  <a:srgbClr val="F8FAFC"/>
                </a:solidFill>
                <a:latin typeface="Arial"/>
              </a:defRPr>
            </a:pPr>
            <a:r>
              <a:t>Triển khai mã nguồn: Kiểm thử trang /inputs (TC04 – TC06)</a:t>
            </a:r>
          </a:p>
        </p:txBody>
      </p:sp>
      <p:sp>
        <p:nvSpPr>
          <p:cNvPr id="5" name="Rectangle 4"/>
          <p:cNvSpPr/>
          <p:nvPr/>
        </p:nvSpPr>
        <p:spPr>
          <a:xfrm>
            <a:off x="731520" y="123444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320040"/>
          </a:xfrm>
          <a:prstGeom prst="rect">
            <a:avLst/>
          </a:prstGeom>
          <a:noFill/>
        </p:spPr>
        <p:txBody>
          <a:bodyPr wrap="none">
            <a:spAutoFit/>
          </a:bodyPr>
          <a:lstStyle/>
          <a:p>
            <a:pPr>
              <a:defRPr sz="1000">
                <a:solidFill>
                  <a:srgbClr val="94A3B8"/>
                </a:solidFill>
                <a:latin typeface="Arial"/>
              </a:defRPr>
            </a:pPr>
            <a:r>
              <a:t>Kiểm thử phần mềm tự động | Nhóm W1 – Đề tài: Nhập liệu &amp; phím đặc biệt (Selenium Python)</a:t>
            </a:r>
          </a:p>
        </p:txBody>
      </p:sp>
      <p:sp>
        <p:nvSpPr>
          <p:cNvPr id="7" name="Rounded Rectangle 6"/>
          <p:cNvSpPr/>
          <p:nvPr/>
        </p:nvSpPr>
        <p:spPr>
          <a:xfrm>
            <a:off x="7315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000" b="1">
                <a:solidFill>
                  <a:srgbClr val="34D399"/>
                </a:solidFill>
                <a:latin typeface="Courier New"/>
              </a:defRPr>
            </a:pPr>
            <a:r>
              <a:t>def test_04_inputs_send_keys_and_get_attribute(self):</a:t>
            </a:r>
            <a:br/>
            <a:r>
              <a:t>    self.driver.get('https://.../inputs')</a:t>
            </a:r>
            <a:br/>
            <a:r>
              <a:t>    num_input = self.driver.find_element(</a:t>
            </a:r>
            <a:br/>
            <a:r>
              <a:t>        By.CSS_SELECTOR, '.example input'</a:t>
            </a:r>
            <a:br/>
            <a:r>
              <a:t>    )</a:t>
            </a:r>
            <a:br/>
            <a:r>
              <a:t>    # Kiểm tra thuộc tính type</a:t>
            </a:r>
            <a:br/>
            <a:r>
              <a:t>    self.assertEqual(</a:t>
            </a:r>
            <a:br/>
            <a:r>
              <a:t>        num_input.get_attribute('type'), 'number'</a:t>
            </a:r>
            <a:br/>
            <a:r>
              <a:t>    )</a:t>
            </a:r>
            <a:br/>
            <a:r>
              <a:t>    # Nhập giá trị số và kiểm tra thuộc tính value</a:t>
            </a:r>
            <a:br/>
            <a:r>
              <a:t>    num_input.send_keys('50')</a:t>
            </a:r>
            <a:br/>
            <a:r>
              <a:t>    self.assertEqual(</a:t>
            </a:r>
            <a:br/>
            <a:r>
              <a:t>        num_input.get_attribute('value'), '50'</a:t>
            </a:r>
            <a:br/>
            <a:r>
              <a:t>    )</a:t>
            </a:r>
            <a:br/>
            <a:br/>
            <a:r>
              <a:t>def test_06_inputs_clear(self):</a:t>
            </a:r>
            <a:br/>
            <a:r>
              <a:t>    # Sử dụng hàm clear() làm rỗng ô nhập</a:t>
            </a:r>
            <a:br/>
            <a:r>
              <a:t>    num_input = self.driver.find_element(...)</a:t>
            </a:r>
            <a:br/>
            <a:r>
              <a:t>    num_input.clear()</a:t>
            </a:r>
            <a:br/>
            <a:r>
              <a:t>    self.assertEqual(</a:t>
            </a:r>
            <a:br/>
            <a:r>
              <a:t>        num_input.get_attribute('value'), ''</a:t>
            </a:r>
            <a:br/>
            <a:r>
              <a:t>    )</a:t>
            </a:r>
          </a:p>
        </p:txBody>
      </p:sp>
      <p:sp>
        <p:nvSpPr>
          <p:cNvPr id="8" name="Rounded Rectangle 7"/>
          <p:cNvSpPr/>
          <p:nvPr/>
        </p:nvSpPr>
        <p:spPr>
          <a:xfrm>
            <a:off x="62179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600" b="1">
                <a:solidFill>
                  <a:srgbClr val="38BDF8"/>
                </a:solidFill>
                <a:latin typeface="Arial"/>
              </a:defRPr>
            </a:pPr>
            <a:r>
              <a:t>Giải thích kỹ thuật trọng tâm</a:t>
            </a:r>
          </a:p>
          <a:p>
            <a:pPr>
              <a:spcBef>
                <a:spcPts val="800"/>
              </a:spcBef>
              <a:defRPr sz="1300" b="1">
                <a:solidFill>
                  <a:srgbClr val="38BDF8"/>
                </a:solidFill>
              </a:defRPr>
            </a:pPr>
            <a:r>
              <a:t>• Kiểm tra type='number' (TC04):</a:t>
            </a:r>
          </a:p>
          <a:p>
            <a:pPr>
              <a:defRPr sz="1200">
                <a:solidFill>
                  <a:srgbClr val="F8FAFC"/>
                </a:solidFill>
              </a:defRPr>
            </a:pPr>
            <a:r>
              <a:t>   Dùng get_attribute('type') để kiểm tra tính toàn vẹn của trường dữ liệu, đảm bảo không nhận ký tự chữ tùy tiện.</a:t>
            </a:r>
          </a:p>
          <a:p>
            <a:pPr>
              <a:spcBef>
                <a:spcPts val="800"/>
              </a:spcBef>
              <a:defRPr sz="1300" b="1">
                <a:solidFill>
                  <a:srgbClr val="38BDF8"/>
                </a:solidFill>
              </a:defRPr>
            </a:pPr>
            <a:r>
              <a:t>• Tăng giá trị số bằng Keys.ARROW_UP (TC05):</a:t>
            </a:r>
          </a:p>
          <a:p>
            <a:pPr>
              <a:defRPr sz="1200">
                <a:solidFill>
                  <a:srgbClr val="F8FAFC"/>
                </a:solidFill>
              </a:defRPr>
            </a:pPr>
            <a:r>
              <a:t>   Gửi phím Keys.ARROW_UP vào ô input số sẽ kích hoạt tính năng step-up native của trình duyệt, đưa giá trị từ '50' lên '51'. Xác minh lại bằng get_attribute('value').</a:t>
            </a:r>
          </a:p>
          <a:p>
            <a:pPr>
              <a:spcBef>
                <a:spcPts val="800"/>
              </a:spcBef>
              <a:defRPr sz="1300" b="1">
                <a:solidFill>
                  <a:srgbClr val="38BDF8"/>
                </a:solidFill>
              </a:defRPr>
            </a:pPr>
            <a:r>
              <a:t>• Làm rỗng ô nhập bằng clear() (TC06):</a:t>
            </a:r>
          </a:p>
          <a:p>
            <a:pPr>
              <a:defRPr sz="1200">
                <a:solidFill>
                  <a:srgbClr val="F8FAFC"/>
                </a:solidFill>
              </a:defRPr>
            </a:pPr>
            <a:r>
              <a:t>   Sử dụng hàm clear() theo đúng yêu cầu phân công để xoá sạch toàn bộ giá trị đã nhập và khẳng định trường trở về chuỗi rỗng ''.</a:t>
            </a:r>
          </a:p>
          <a:p>
            <a:pPr>
              <a:spcBef>
                <a:spcPts val="800"/>
              </a:spcBef>
              <a:defRPr sz="1300" b="1">
                <a:solidFill>
                  <a:srgbClr val="38BDF8"/>
                </a:solidFill>
              </a:defRPr>
            </a:pPr>
            <a:r>
              <a:t>• Đảm bảo không dùng chuỗi magic:</a:t>
            </a:r>
          </a:p>
          <a:p>
            <a:pPr>
              <a:defRPr sz="1200">
                <a:solidFill>
                  <a:srgbClr val="F8FAFC"/>
                </a:solidFill>
              </a:defRPr>
            </a:pPr>
            <a:r>
              <a:t>   Toàn bộ dữ liệu kiểm thử được định nghĩa tập trung qua các hằng số INPUT_NUMBER_VALUE, EXPECTED_INCREMENTED_VALUE.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320040"/>
          </a:xfrm>
          <a:prstGeom prst="rect">
            <a:avLst/>
          </a:prstGeom>
          <a:noFill/>
        </p:spPr>
        <p:txBody>
          <a:bodyPr wrap="none">
            <a:spAutoFit/>
          </a:bodyPr>
          <a:lstStyle/>
          <a:p>
            <a:pPr>
              <a:defRPr sz="1100" b="1">
                <a:solidFill>
                  <a:srgbClr val="38BDF8"/>
                </a:solidFill>
                <a:latin typeface="Arial"/>
              </a:defRPr>
            </a:pPr>
            <a:r>
              <a:t>KẾT QUẢ THỰC THI</a:t>
            </a:r>
          </a:p>
        </p:txBody>
      </p:sp>
      <p:sp>
        <p:nvSpPr>
          <p:cNvPr id="4" name="TextBox 3"/>
          <p:cNvSpPr txBox="1"/>
          <p:nvPr/>
        </p:nvSpPr>
        <p:spPr>
          <a:xfrm>
            <a:off x="731520" y="594360"/>
            <a:ext cx="10728655" cy="594360"/>
          </a:xfrm>
          <a:prstGeom prst="rect">
            <a:avLst/>
          </a:prstGeom>
          <a:noFill/>
        </p:spPr>
        <p:txBody>
          <a:bodyPr wrap="none">
            <a:spAutoFit/>
          </a:bodyPr>
          <a:lstStyle/>
          <a:p>
            <a:pPr>
              <a:defRPr sz="2400" b="1">
                <a:solidFill>
                  <a:srgbClr val="F8FAFC"/>
                </a:solidFill>
                <a:latin typeface="Arial"/>
              </a:defRPr>
            </a:pPr>
            <a:r>
              <a:t>Báo cáo kết quả kiểm thử tự động &amp; Phân tích log Pytest</a:t>
            </a:r>
          </a:p>
        </p:txBody>
      </p:sp>
      <p:sp>
        <p:nvSpPr>
          <p:cNvPr id="5" name="Rectangle 4"/>
          <p:cNvSpPr/>
          <p:nvPr/>
        </p:nvSpPr>
        <p:spPr>
          <a:xfrm>
            <a:off x="731520" y="123444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320040"/>
          </a:xfrm>
          <a:prstGeom prst="rect">
            <a:avLst/>
          </a:prstGeom>
          <a:noFill/>
        </p:spPr>
        <p:txBody>
          <a:bodyPr wrap="none">
            <a:spAutoFit/>
          </a:bodyPr>
          <a:lstStyle/>
          <a:p>
            <a:pPr>
              <a:defRPr sz="1000">
                <a:solidFill>
                  <a:srgbClr val="94A3B8"/>
                </a:solidFill>
                <a:latin typeface="Arial"/>
              </a:defRPr>
            </a:pPr>
            <a:r>
              <a:t>Kiểm thử phần mềm tự động | Nhóm W1 – Đề tài: Nhập liệu &amp; phím đặc biệt (Selenium Python)</a:t>
            </a:r>
          </a:p>
        </p:txBody>
      </p:sp>
      <p:sp>
        <p:nvSpPr>
          <p:cNvPr id="7" name="Rounded Rectangle 6"/>
          <p:cNvSpPr/>
          <p:nvPr/>
        </p:nvSpPr>
        <p:spPr>
          <a:xfrm>
            <a:off x="7315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600" b="1">
                <a:solidFill>
                  <a:srgbClr val="38BDF8"/>
                </a:solidFill>
                <a:latin typeface="Arial"/>
              </a:defRPr>
            </a:pPr>
            <a:r>
              <a:t>Thông số kết quả kiểm thử</a:t>
            </a:r>
          </a:p>
          <a:p>
            <a:pPr>
              <a:spcBef>
                <a:spcPts val="600"/>
              </a:spcBef>
              <a:defRPr sz="1300" b="1">
                <a:solidFill>
                  <a:srgbClr val="38BDF8"/>
                </a:solidFill>
              </a:defRPr>
            </a:pPr>
            <a:r>
              <a:t>• Tổng số ca kiểm thử:</a:t>
            </a:r>
          </a:p>
          <a:p>
            <a:pPr>
              <a:defRPr sz="1300" b="0">
                <a:solidFill>
                  <a:srgbClr val="F8FAFC"/>
                </a:solidFill>
              </a:defRPr>
            </a:pPr>
            <a:r>
              <a:t>   6 / 6 Test Cases</a:t>
            </a:r>
          </a:p>
          <a:p>
            <a:pPr>
              <a:spcBef>
                <a:spcPts val="600"/>
              </a:spcBef>
              <a:defRPr sz="1300" b="1">
                <a:solidFill>
                  <a:srgbClr val="38BDF8"/>
                </a:solidFill>
              </a:defRPr>
            </a:pPr>
            <a:r>
              <a:t>• Tỷ lệ thành công (Success Rate):</a:t>
            </a:r>
          </a:p>
          <a:p>
            <a:pPr>
              <a:defRPr sz="1300" b="1">
                <a:solidFill>
                  <a:srgbClr val="34D399"/>
                </a:solidFill>
              </a:defRPr>
            </a:pPr>
            <a:r>
              <a:t>   100% PASSED</a:t>
            </a:r>
          </a:p>
          <a:p>
            <a:pPr>
              <a:spcBef>
                <a:spcPts val="600"/>
              </a:spcBef>
              <a:defRPr sz="1300" b="1">
                <a:solidFill>
                  <a:srgbClr val="38BDF8"/>
                </a:solidFill>
              </a:defRPr>
            </a:pPr>
            <a:r>
              <a:t>• Tổng thời gian thực thi:</a:t>
            </a:r>
          </a:p>
          <a:p>
            <a:pPr>
              <a:defRPr sz="1300" b="1">
                <a:solidFill>
                  <a:srgbClr val="34D399"/>
                </a:solidFill>
              </a:defRPr>
            </a:pPr>
            <a:r>
              <a:t>   5.01 giây (Cực kỳ tối ưu)</a:t>
            </a:r>
          </a:p>
          <a:p>
            <a:pPr>
              <a:spcBef>
                <a:spcPts val="600"/>
              </a:spcBef>
              <a:defRPr sz="1300" b="1">
                <a:solidFill>
                  <a:srgbClr val="38BDF8"/>
                </a:solidFill>
              </a:defRPr>
            </a:pPr>
            <a:r>
              <a:t>• Môi trường thực thi:</a:t>
            </a:r>
          </a:p>
          <a:p>
            <a:pPr>
              <a:defRPr sz="1300" b="0">
                <a:solidFill>
                  <a:srgbClr val="F8FAFC"/>
                </a:solidFill>
              </a:defRPr>
            </a:pPr>
            <a:r>
              <a:t>   macOS (Apple Silicon arm64), Python 3.13.9, Selenium 4.51.0, Chrome 155</a:t>
            </a:r>
          </a:p>
          <a:p>
            <a:pPr>
              <a:spcBef>
                <a:spcPts val="600"/>
              </a:spcBef>
              <a:defRPr sz="1300" b="1">
                <a:solidFill>
                  <a:srgbClr val="38BDF8"/>
                </a:solidFill>
              </a:defRPr>
            </a:pPr>
            <a:r>
              <a:t>• Báo cáo HTML sinh tự động:</a:t>
            </a:r>
          </a:p>
          <a:p>
            <a:pPr>
              <a:defRPr sz="1300" b="0">
                <a:solidFill>
                  <a:srgbClr val="F8FAFC"/>
                </a:solidFill>
              </a:defRPr>
            </a:pPr>
            <a:r>
              <a:t>   tuan-06/anh/report.html (Đầy đủ metadata môi trường, thời gian và trạng thái)</a:t>
            </a:r>
          </a:p>
        </p:txBody>
      </p:sp>
      <p:sp>
        <p:nvSpPr>
          <p:cNvPr id="8" name="Rounded Rectangle 7"/>
          <p:cNvSpPr/>
          <p:nvPr/>
        </p:nvSpPr>
        <p:spPr>
          <a:xfrm>
            <a:off x="62179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000" b="1">
                <a:solidFill>
                  <a:srgbClr val="34D399"/>
                </a:solidFill>
                <a:latin typeface="Courier New"/>
              </a:defRPr>
            </a:pPr>
            <a:r>
              <a:t>$ pytest -v tuan-06/test_nhap_lieu_phim_dac_biet.py \</a:t>
            </a:r>
            <a:br/>
            <a:r>
              <a:t>  --html=tuan-06/anh/report.html --self-contained-html</a:t>
            </a:r>
            <a:br/>
            <a:br/>
            <a:r>
              <a:t>==================== test session starts ====================</a:t>
            </a:r>
            <a:br/>
            <a:r>
              <a:t>platform darwin -- Python 3.13.9, pytest-8.4.2</a:t>
            </a:r>
            <a:br/>
            <a:r>
              <a:t>rootdir: /Users/macos/kttd-w1</a:t>
            </a:r>
            <a:br/>
            <a:r>
              <a:t>collected 6 items</a:t>
            </a:r>
            <a:br/>
            <a:br/>
            <a:r>
              <a:t>test_01_key_presses_enter PASSED               [ 16%]</a:t>
            </a:r>
            <a:br/>
            <a:r>
              <a:t>test_02_key_presses_tab PASSED                 [ 33%]</a:t>
            </a:r>
            <a:br/>
            <a:r>
              <a:t>test_03_key_presses_arrow_up PASSED            [ 50%]</a:t>
            </a:r>
            <a:br/>
            <a:r>
              <a:t>test_04_inputs_send_keys_and_get_attr PASSED   [ 66%]</a:t>
            </a:r>
            <a:br/>
            <a:r>
              <a:t>test_05_inputs_arrow_up_increment PASSED       [ 83%]</a:t>
            </a:r>
            <a:br/>
            <a:r>
              <a:t>test_06_inputs_clear PASSED                    [100%]</a:t>
            </a:r>
            <a:br/>
            <a:br/>
            <a:r>
              <a:t>-------- Generated html report: report.html ---------</a:t>
            </a:r>
            <a:br/>
            <a:r>
              <a:t>================= 6 passed in 5.01s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320040"/>
          </a:xfrm>
          <a:prstGeom prst="rect">
            <a:avLst/>
          </a:prstGeom>
          <a:noFill/>
        </p:spPr>
        <p:txBody>
          <a:bodyPr wrap="none">
            <a:spAutoFit/>
          </a:bodyPr>
          <a:lstStyle/>
          <a:p>
            <a:pPr>
              <a:defRPr sz="1100" b="1">
                <a:solidFill>
                  <a:srgbClr val="38BDF8"/>
                </a:solidFill>
                <a:latin typeface="Arial"/>
              </a:defRPr>
            </a:pPr>
            <a:r>
              <a:t>MINH CHỨNG THỰC TẾ</a:t>
            </a:r>
          </a:p>
        </p:txBody>
      </p:sp>
      <p:sp>
        <p:nvSpPr>
          <p:cNvPr id="4" name="TextBox 3"/>
          <p:cNvSpPr txBox="1"/>
          <p:nvPr/>
        </p:nvSpPr>
        <p:spPr>
          <a:xfrm>
            <a:off x="731520" y="594360"/>
            <a:ext cx="10728655" cy="594360"/>
          </a:xfrm>
          <a:prstGeom prst="rect">
            <a:avLst/>
          </a:prstGeom>
          <a:noFill/>
        </p:spPr>
        <p:txBody>
          <a:bodyPr wrap="none">
            <a:spAutoFit/>
          </a:bodyPr>
          <a:lstStyle/>
          <a:p>
            <a:pPr>
              <a:defRPr sz="2400" b="1">
                <a:solidFill>
                  <a:srgbClr val="F8FAFC"/>
                </a:solidFill>
                <a:latin typeface="Arial"/>
              </a:defRPr>
            </a:pPr>
            <a:r>
              <a:t>Ảnh chụp màn hình kết quả thực thi các ca kiểm thử</a:t>
            </a:r>
          </a:p>
        </p:txBody>
      </p:sp>
      <p:sp>
        <p:nvSpPr>
          <p:cNvPr id="5" name="Rectangle 4"/>
          <p:cNvSpPr/>
          <p:nvPr/>
        </p:nvSpPr>
        <p:spPr>
          <a:xfrm>
            <a:off x="731520" y="123444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320040"/>
          </a:xfrm>
          <a:prstGeom prst="rect">
            <a:avLst/>
          </a:prstGeom>
          <a:noFill/>
        </p:spPr>
        <p:txBody>
          <a:bodyPr wrap="none">
            <a:spAutoFit/>
          </a:bodyPr>
          <a:lstStyle/>
          <a:p>
            <a:pPr>
              <a:defRPr sz="1000">
                <a:solidFill>
                  <a:srgbClr val="94A3B8"/>
                </a:solidFill>
                <a:latin typeface="Arial"/>
              </a:defRPr>
            </a:pPr>
            <a:r>
              <a:t>Kiểm thử phần mềm tự động | Nhóm W1 – Đề tài: Nhập liệu &amp; phím đặc biệt (Selenium Python)</a:t>
            </a:r>
          </a:p>
        </p:txBody>
      </p:sp>
      <p:pic>
        <p:nvPicPr>
          <p:cNvPr id="7" name="Picture 6" descr="tc01_key_presses_enter.png"/>
          <p:cNvPicPr>
            <a:picLocks noChangeAspect="1"/>
          </p:cNvPicPr>
          <p:nvPr/>
        </p:nvPicPr>
        <p:blipFill>
          <a:blip r:embed="rId2"/>
          <a:stretch>
            <a:fillRect/>
          </a:stretch>
        </p:blipFill>
        <p:spPr>
          <a:xfrm>
            <a:off x="731520" y="1463040"/>
            <a:ext cx="3291840" cy="1689640"/>
          </a:xfrm>
          <a:prstGeom prst="rect">
            <a:avLst/>
          </a:prstGeom>
        </p:spPr>
      </p:pic>
      <p:sp>
        <p:nvSpPr>
          <p:cNvPr id="8" name="Rounded Rectangle 7"/>
          <p:cNvSpPr/>
          <p:nvPr/>
        </p:nvSpPr>
        <p:spPr>
          <a:xfrm>
            <a:off x="731520" y="3657600"/>
            <a:ext cx="3291840" cy="82296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200" b="1">
                <a:solidFill>
                  <a:srgbClr val="38BDF8"/>
                </a:solidFill>
                <a:latin typeface="Arial"/>
              </a:defRPr>
            </a:pPr>
            <a:r>
              <a:t>TC01: Gõ ENTER</a:t>
            </a:r>
          </a:p>
          <a:p>
            <a:pPr>
              <a:defRPr sz="1100">
                <a:solidFill>
                  <a:srgbClr val="34D399"/>
                </a:solidFill>
              </a:defRPr>
            </a:pPr>
            <a:r>
              <a:t>Kết quả: You entered: ENTER</a:t>
            </a:r>
          </a:p>
        </p:txBody>
      </p:sp>
      <p:pic>
        <p:nvPicPr>
          <p:cNvPr id="9" name="Picture 8" descr="tc03_key_presses_arrow_up.png"/>
          <p:cNvPicPr>
            <a:picLocks noChangeAspect="1"/>
          </p:cNvPicPr>
          <p:nvPr/>
        </p:nvPicPr>
        <p:blipFill>
          <a:blip r:embed="rId3"/>
          <a:stretch>
            <a:fillRect/>
          </a:stretch>
        </p:blipFill>
        <p:spPr>
          <a:xfrm>
            <a:off x="4449470" y="1463040"/>
            <a:ext cx="3291840" cy="1689640"/>
          </a:xfrm>
          <a:prstGeom prst="rect">
            <a:avLst/>
          </a:prstGeom>
        </p:spPr>
      </p:pic>
      <p:sp>
        <p:nvSpPr>
          <p:cNvPr id="10" name="Rounded Rectangle 9"/>
          <p:cNvSpPr/>
          <p:nvPr/>
        </p:nvSpPr>
        <p:spPr>
          <a:xfrm>
            <a:off x="4449470" y="3657600"/>
            <a:ext cx="3291840" cy="82296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200" b="1">
                <a:solidFill>
                  <a:srgbClr val="38BDF8"/>
                </a:solidFill>
                <a:latin typeface="Arial"/>
              </a:defRPr>
            </a:pPr>
            <a:r>
              <a:t>TC03: Gõ ARROW_UP</a:t>
            </a:r>
          </a:p>
          <a:p>
            <a:pPr>
              <a:defRPr sz="1100">
                <a:solidFill>
                  <a:srgbClr val="34D399"/>
                </a:solidFill>
              </a:defRPr>
            </a:pPr>
            <a:r>
              <a:t>Kết quả: You entered: UP</a:t>
            </a:r>
          </a:p>
        </p:txBody>
      </p:sp>
      <p:pic>
        <p:nvPicPr>
          <p:cNvPr id="11" name="Picture 10" descr="tc05_inputs_arrow_up_increment.png"/>
          <p:cNvPicPr>
            <a:picLocks noChangeAspect="1"/>
          </p:cNvPicPr>
          <p:nvPr/>
        </p:nvPicPr>
        <p:blipFill>
          <a:blip r:embed="rId4"/>
          <a:stretch>
            <a:fillRect/>
          </a:stretch>
        </p:blipFill>
        <p:spPr>
          <a:xfrm>
            <a:off x="8168335" y="1463040"/>
            <a:ext cx="3291840" cy="1689640"/>
          </a:xfrm>
          <a:prstGeom prst="rect">
            <a:avLst/>
          </a:prstGeom>
        </p:spPr>
      </p:pic>
      <p:sp>
        <p:nvSpPr>
          <p:cNvPr id="12" name="Rounded Rectangle 11"/>
          <p:cNvSpPr/>
          <p:nvPr/>
        </p:nvSpPr>
        <p:spPr>
          <a:xfrm>
            <a:off x="8168335" y="3657600"/>
            <a:ext cx="3291840" cy="82296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200" b="1">
                <a:solidFill>
                  <a:srgbClr val="38BDF8"/>
                </a:solidFill>
                <a:latin typeface="Arial"/>
              </a:defRPr>
            </a:pPr>
            <a:r>
              <a:t>TC05: Tăng giá trị số</a:t>
            </a:r>
          </a:p>
          <a:p>
            <a:pPr>
              <a:defRPr sz="1100">
                <a:solidFill>
                  <a:srgbClr val="34D399"/>
                </a:solidFill>
              </a:defRPr>
            </a:pPr>
            <a:r>
              <a:t>Giá trị tăng từ 50 lên 51</a:t>
            </a:r>
          </a:p>
        </p:txBody>
      </p:sp>
      <p:sp>
        <p:nvSpPr>
          <p:cNvPr id="13" name="Rounded Rectangle 12"/>
          <p:cNvSpPr/>
          <p:nvPr/>
        </p:nvSpPr>
        <p:spPr>
          <a:xfrm>
            <a:off x="731520" y="4663440"/>
            <a:ext cx="10728655" cy="14630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38BDF8"/>
                </a:solidFill>
                <a:latin typeface="Arial"/>
              </a:defRPr>
            </a:pPr>
            <a:r>
              <a:t>Lưu trữ minh chứng &amp; Báo cáo kiểm thử</a:t>
            </a:r>
          </a:p>
          <a:p>
            <a:pPr>
              <a:defRPr sz="1200">
                <a:solidFill>
                  <a:srgbClr val="F8FAFC"/>
                </a:solidFill>
              </a:defRPr>
            </a:pPr>
            <a:r>
              <a:t>• Toàn bộ 6 ảnh chụp màn hình minh chứng được tự động lưu trong thư mục: tuan-06/anh/tc01_*.png đến tc06_*.png</a:t>
            </a:r>
            <a:br/>
            <a:r>
              <a:t>• Báo cáo tương tác hoàn chỉnh pytest-html lưu tại: tuan-06/anh/report.html</a:t>
            </a:r>
            <a:br/>
            <a:r>
              <a:t>• Bộ kiểm thử có thể chạy cả ở chế độ headless (chạy ngầm tốc độ cao) và GUI trực quan: HEADLESS=false python3 -m unittest -v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320040"/>
          </a:xfrm>
          <a:prstGeom prst="rect">
            <a:avLst/>
          </a:prstGeom>
          <a:noFill/>
        </p:spPr>
        <p:txBody>
          <a:bodyPr wrap="none">
            <a:spAutoFit/>
          </a:bodyPr>
          <a:lstStyle/>
          <a:p>
            <a:pPr>
              <a:defRPr sz="1100" b="1">
                <a:solidFill>
                  <a:srgbClr val="38BDF8"/>
                </a:solidFill>
                <a:latin typeface="Arial"/>
              </a:defRPr>
            </a:pPr>
            <a:r>
              <a:t>TỔNG KẾT KỸ THUẬT</a:t>
            </a:r>
          </a:p>
        </p:txBody>
      </p:sp>
      <p:sp>
        <p:nvSpPr>
          <p:cNvPr id="4" name="TextBox 3"/>
          <p:cNvSpPr txBox="1"/>
          <p:nvPr/>
        </p:nvSpPr>
        <p:spPr>
          <a:xfrm>
            <a:off x="731520" y="594360"/>
            <a:ext cx="10728655" cy="594360"/>
          </a:xfrm>
          <a:prstGeom prst="rect">
            <a:avLst/>
          </a:prstGeom>
          <a:noFill/>
        </p:spPr>
        <p:txBody>
          <a:bodyPr wrap="none">
            <a:spAutoFit/>
          </a:bodyPr>
          <a:lstStyle/>
          <a:p>
            <a:pPr>
              <a:defRPr sz="2400" b="1">
                <a:solidFill>
                  <a:srgbClr val="F8FAFC"/>
                </a:solidFill>
                <a:latin typeface="Arial"/>
              </a:defRPr>
            </a:pPr>
            <a:r>
              <a:t>Bài học kinh nghiệm kỹ thuật &amp; Quy trình làm việc nhóm</a:t>
            </a:r>
          </a:p>
        </p:txBody>
      </p:sp>
      <p:sp>
        <p:nvSpPr>
          <p:cNvPr id="5" name="Rectangle 4"/>
          <p:cNvSpPr/>
          <p:nvPr/>
        </p:nvSpPr>
        <p:spPr>
          <a:xfrm>
            <a:off x="731520" y="1234440"/>
            <a:ext cx="10728655" cy="13716"/>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10728655" cy="320040"/>
          </a:xfrm>
          <a:prstGeom prst="rect">
            <a:avLst/>
          </a:prstGeom>
          <a:noFill/>
        </p:spPr>
        <p:txBody>
          <a:bodyPr wrap="none">
            <a:spAutoFit/>
          </a:bodyPr>
          <a:lstStyle/>
          <a:p>
            <a:pPr>
              <a:defRPr sz="1000">
                <a:solidFill>
                  <a:srgbClr val="94A3B8"/>
                </a:solidFill>
                <a:latin typeface="Arial"/>
              </a:defRPr>
            </a:pPr>
            <a:r>
              <a:t>Kiểm thử phần mềm tự động | Nhóm W1 – Đề tài: Nhập liệu &amp; phím đặc biệt (Selenium Python)</a:t>
            </a:r>
          </a:p>
        </p:txBody>
      </p:sp>
      <p:sp>
        <p:nvSpPr>
          <p:cNvPr id="7" name="Rounded Rectangle 6"/>
          <p:cNvSpPr/>
          <p:nvPr/>
        </p:nvSpPr>
        <p:spPr>
          <a:xfrm>
            <a:off x="7315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600" b="1">
                <a:solidFill>
                  <a:srgbClr val="38BDF8"/>
                </a:solidFill>
                <a:latin typeface="Arial"/>
              </a:defRPr>
            </a:pPr>
            <a:r>
              <a:t>Kinh nghiệm giải quyết vấn đề kỹ thuật</a:t>
            </a:r>
          </a:p>
          <a:p>
            <a:pPr>
              <a:spcBef>
                <a:spcPts val="800"/>
              </a:spcBef>
              <a:defRPr sz="1300" b="1">
                <a:solidFill>
                  <a:srgbClr val="38BDF8"/>
                </a:solidFill>
              </a:defRPr>
            </a:pPr>
            <a:r>
              <a:t>• Xử lý hành vi mặc định của form HTML:</a:t>
            </a:r>
          </a:p>
          <a:p>
            <a:pPr>
              <a:defRPr sz="1200">
                <a:solidFill>
                  <a:srgbClr val="F8FAFC"/>
                </a:solidFill>
              </a:defRPr>
            </a:pPr>
            <a:r>
              <a:t>   Khi nhấn phím Enter trong ô input, form tự động gửi request GET làm reload trang. Cần hiểu rõ sự kiện DOM và can thiệp preventDefault() qua execute_script để giữ vững trạng thái kiểm thử.</a:t>
            </a:r>
          </a:p>
          <a:p>
            <a:pPr>
              <a:spcBef>
                <a:spcPts val="800"/>
              </a:spcBef>
              <a:defRPr sz="1300" b="1">
                <a:solidFill>
                  <a:srgbClr val="38BDF8"/>
                </a:solidFill>
              </a:defRPr>
            </a:pPr>
            <a:r>
              <a:t>• Tối ưu hóa chiến lược tải trang eager:</a:t>
            </a:r>
          </a:p>
          <a:p>
            <a:pPr>
              <a:defRPr sz="1200">
                <a:solidFill>
                  <a:srgbClr val="F8FAFC"/>
                </a:solidFill>
              </a:defRPr>
            </a:pPr>
            <a:r>
              <a:t>   Các trang web thực tế thường tải nhiều script bên thứ ba (quảng cáo, analytics). Dùng chiến lược eager giúp bài test không bị treo.</a:t>
            </a:r>
          </a:p>
          <a:p>
            <a:pPr>
              <a:spcBef>
                <a:spcPts val="800"/>
              </a:spcBef>
              <a:defRPr sz="1300" b="1">
                <a:solidFill>
                  <a:srgbClr val="38BDF8"/>
                </a:solidFill>
              </a:defRPr>
            </a:pPr>
            <a:r>
              <a:t>• Tái sử dụng phiên trình duyệt setUpClass:</a:t>
            </a:r>
          </a:p>
          <a:p>
            <a:pPr>
              <a:defRPr sz="1200">
                <a:solidFill>
                  <a:srgbClr val="F8FAFC"/>
                </a:solidFill>
              </a:defRPr>
            </a:pPr>
            <a:r>
              <a:t>   Tiết kiệm 80% thời gian chạy kiểm thử mà vẫn giữ trọn vẹn tính độc lập giữa các test method.</a:t>
            </a:r>
          </a:p>
        </p:txBody>
      </p:sp>
      <p:sp>
        <p:nvSpPr>
          <p:cNvPr id="8" name="Rounded Rectangle 7"/>
          <p:cNvSpPr/>
          <p:nvPr/>
        </p:nvSpPr>
        <p:spPr>
          <a:xfrm>
            <a:off x="6217920" y="1463040"/>
            <a:ext cx="5212080" cy="4663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600" b="1">
                <a:solidFill>
                  <a:srgbClr val="38BDF8"/>
                </a:solidFill>
                <a:latin typeface="Arial"/>
              </a:defRPr>
            </a:pPr>
            <a:r>
              <a:t>Tuân thủ quy trình làm việc nhóm GitHub</a:t>
            </a:r>
          </a:p>
          <a:p>
            <a:pPr>
              <a:spcBef>
                <a:spcPts val="800"/>
              </a:spcBef>
              <a:defRPr sz="1300" b="1">
                <a:solidFill>
                  <a:srgbClr val="34D399"/>
                </a:solidFill>
              </a:defRPr>
            </a:pPr>
            <a:r>
              <a:t>• 1. Phân chia Issue theo Milestone:</a:t>
            </a:r>
          </a:p>
          <a:p>
            <a:pPr>
              <a:defRPr sz="1200">
                <a:solidFill>
                  <a:srgbClr val="F8FAFC"/>
                </a:solidFill>
              </a:defRPr>
            </a:pPr>
            <a:r>
              <a:t>   Giao việc độc lập cho từng đầu việc: Kịch bản test, Code key presses, Code inputs, Báo cáo &amp; slide.</a:t>
            </a:r>
          </a:p>
          <a:p>
            <a:pPr>
              <a:spcBef>
                <a:spcPts val="800"/>
              </a:spcBef>
              <a:defRPr sz="1300" b="1">
                <a:solidFill>
                  <a:srgbClr val="34D399"/>
                </a:solidFill>
              </a:defRPr>
            </a:pPr>
            <a:r>
              <a:t>• 2. Phát triển trên nhánh riêng (t06-*):</a:t>
            </a:r>
          </a:p>
          <a:p>
            <a:pPr>
              <a:defRPr sz="1200">
                <a:solidFill>
                  <a:srgbClr val="F8FAFC"/>
                </a:solidFill>
              </a:defRPr>
            </a:pPr>
            <a:r>
              <a:t>   Mỗi thành viên làm việc độc lập trên nhánh tính năng, không commit đè lên nhau.</a:t>
            </a:r>
          </a:p>
          <a:p>
            <a:pPr>
              <a:spcBef>
                <a:spcPts val="800"/>
              </a:spcBef>
              <a:defRPr sz="1300" b="1">
                <a:solidFill>
                  <a:srgbClr val="34D399"/>
                </a:solidFill>
              </a:defRPr>
            </a:pPr>
            <a:r>
              <a:t>• 3. Kiểm soát chất lượng qua Pull Request:</a:t>
            </a:r>
          </a:p>
          <a:p>
            <a:pPr>
              <a:defRPr sz="1200">
                <a:solidFill>
                  <a:srgbClr val="F8FAFC"/>
                </a:solidFill>
              </a:defRPr>
            </a:pPr>
            <a:r>
              <a:t>   Mở PR vào nhánh week-06 với cú pháp Closes #&lt;id&gt;, tiến hành code review trước khi merge.</a:t>
            </a:r>
          </a:p>
          <a:p>
            <a:pPr>
              <a:spcBef>
                <a:spcPts val="800"/>
              </a:spcBef>
              <a:defRPr sz="1300" b="1">
                <a:solidFill>
                  <a:srgbClr val="34D399"/>
                </a:solidFill>
              </a:defRPr>
            </a:pPr>
            <a:r>
              <a:t>• 4. Tích hợp cuối tuần vào nhánh main:</a:t>
            </a:r>
          </a:p>
          <a:p>
            <a:pPr>
              <a:defRPr sz="1200">
                <a:solidFill>
                  <a:srgbClr val="F8FAFC"/>
                </a:solidFill>
              </a:defRPr>
            </a:pPr>
            <a:r>
              <a:t>   Sau khi toàn bộ test case trên week-06 đạt 100% Passed, mở PR tổng gộp vào main và giữ lại nhánh week-06 cho giảng viên đánh giá.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371600" y="1371600"/>
            <a:ext cx="9448495" cy="411480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defRPr sz="2800" b="1">
                <a:solidFill>
                  <a:srgbClr val="38BDF8"/>
                </a:solidFill>
                <a:latin typeface="Arial"/>
              </a:defRPr>
            </a:pPr>
            <a:r>
              <a:t>CẢM ƠN CÔ VÀ CÁC BẠN ĐÃ THEO DÕI BÀI BÁO CÁO!</a:t>
            </a:r>
          </a:p>
          <a:p>
            <a:pPr algn="ctr">
              <a:spcBef>
                <a:spcPts val="1600"/>
              </a:spcBef>
              <a:defRPr sz="2200" b="1">
                <a:solidFill>
                  <a:srgbClr val="F8FAFC"/>
                </a:solidFill>
                <a:latin typeface="Arial"/>
              </a:defRPr>
            </a:pPr>
            <a:r>
              <a:t>PHIÊN HỎI &amp; ĐÁP (Q &amp; A)</a:t>
            </a:r>
          </a:p>
          <a:p>
            <a:pPr algn="ctr">
              <a:spcBef>
                <a:spcPts val="2400"/>
              </a:spcBef>
              <a:defRPr sz="1400">
                <a:solidFill>
                  <a:srgbClr val="94A3B8"/>
                </a:solidFill>
                <a:latin typeface="Arial"/>
              </a:defRPr>
            </a:pPr>
            <a:r>
              <a:t>Nhóm W1 – Báo cáo Kiểm thử tự động Tuần 6</a:t>
            </a:r>
            <a:br/>
            <a:r>
              <a:t>Kho mã nguồn: https://github.com/Nanhhhhhhh/kttd-w1</a:t>
            </a:r>
            <a:br/>
            <a:r>
              <a:t>Pull Request chính: https://github.com/Nanhhhhhhh/kttd-w1/pull/9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