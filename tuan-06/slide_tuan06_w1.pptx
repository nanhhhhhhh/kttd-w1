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62895" cy="3657600"/>
          </a:xfrm>
          <a:prstGeom prst="rect">
            <a:avLst/>
          </a:prstGeom>
          <a:noFill/>
        </p:spPr>
        <p:txBody>
          <a:bodyPr wrap="square">
            <a:spAutoFit/>
          </a:bodyPr>
          <a:lstStyle/>
          <a:p>
            <a:pPr>
              <a:defRPr sz="1800" b="1">
                <a:solidFill>
                  <a:srgbClr val="38BDF8"/>
                </a:solidFill>
              </a:defRPr>
            </a:pPr>
            <a:r>
              <a:t>HỌC PHẦN KIỂM THỬ PHẦN MỀM TỰ ĐỘNG</a:t>
            </a:r>
          </a:p>
          <a:p>
            <a:pPr>
              <a:spcBef>
                <a:spcPts val="1400"/>
              </a:spcBef>
              <a:defRPr sz="3600" b="1">
                <a:solidFill>
                  <a:srgbClr val="F8FAFC"/>
                </a:solidFill>
              </a:defRPr>
            </a:pPr>
            <a:r>
              <a:t>BÁO CÁO TUẦN 06: CHUYÊN ĐỀ TÀI LIỆU &amp; CHỨC NĂNG 1</a:t>
            </a:r>
          </a:p>
          <a:p>
            <a:pPr>
              <a:spcBef>
                <a:spcPts val="2000"/>
              </a:spcBef>
              <a:defRPr sz="1600">
                <a:solidFill>
                  <a:srgbClr val="94A3B8"/>
                </a:solidFill>
              </a:defRPr>
            </a:pPr>
            <a:r>
              <a:t>Chuyên đề: Nhập liệu &amp; phím đặc biệt (Inputs &amp; Special Keys)</a:t>
            </a:r>
            <a:br/>
            <a:r>
              <a:t>Trang kiểm thử: the-internet.herokuapp.com (/key_presses, /inputs)</a:t>
            </a:r>
            <a:br/>
            <a:r>
              <a:t>Nhóm thực hiện: Nhóm W1 (Web Testing Team 1)</a:t>
            </a:r>
            <a:br/>
            <a:r>
              <a:t>Thời lượng báo cáo: 15 Phút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a:spAutoFit/>
          </a:bodyPr>
          <a:lstStyle/>
          <a:p>
            <a:pPr>
              <a:defRPr sz="2800" b="1">
                <a:solidFill>
                  <a:srgbClr val="38BDF8"/>
                </a:solidFill>
                <a:latin typeface="Arial"/>
              </a:defRPr>
            </a:pPr>
            <a:r>
              <a:t>1. NỘI DUNG VÀ THỜI LƯỢNG BÁO CÁO (15 PHÚT)</a:t>
            </a:r>
          </a:p>
        </p:txBody>
      </p:sp>
      <p:sp>
        <p:nvSpPr>
          <p:cNvPr id="4" name="Rectangle 3"/>
          <p:cNvSpPr/>
          <p:nvPr/>
        </p:nvSpPr>
        <p:spPr>
          <a:xfrm>
            <a:off x="731520" y="118872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365760"/>
          </a:xfrm>
          <a:prstGeom prst="rect">
            <a:avLst/>
          </a:prstGeom>
          <a:noFill/>
        </p:spPr>
        <p:txBody>
          <a:bodyPr wrap="none">
            <a:spAutoFit/>
          </a:bodyPr>
          <a:lstStyle/>
          <a:p>
            <a:pPr>
              <a:defRPr sz="1100">
                <a:solidFill>
                  <a:srgbClr val="94A3B8"/>
                </a:solidFill>
              </a:defRPr>
            </a:pPr>
            <a:r>
              <a:t>Học phần: Kiểm thử phần mềm | Nhóm W1 – Tuần 6: Nhập liệu &amp; phím đặc biệt</a:t>
            </a:r>
          </a:p>
        </p:txBody>
      </p:sp>
      <p:sp>
        <p:nvSpPr>
          <p:cNvPr id="6" name="TextBox 5"/>
          <p:cNvSpPr txBox="1"/>
          <p:nvPr/>
        </p:nvSpPr>
        <p:spPr>
          <a:xfrm>
            <a:off x="731520" y="1463040"/>
            <a:ext cx="10728655" cy="4572000"/>
          </a:xfrm>
          <a:prstGeom prst="rect">
            <a:avLst/>
          </a:prstGeom>
          <a:noFill/>
        </p:spPr>
        <p:txBody>
          <a:bodyPr wrap="square">
            <a:spAutoFit/>
          </a:bodyPr>
          <a:lstStyle/>
          <a:p/>
          <a:p>
            <a:pPr>
              <a:spcBef>
                <a:spcPts val="1200"/>
              </a:spcBef>
              <a:defRPr sz="1800" b="1">
                <a:solidFill>
                  <a:srgbClr val="F8FAFC"/>
                </a:solidFill>
              </a:defRPr>
            </a:pPr>
            <a:r>
              <a:t>• 1. Quy trình làm việc nhóm trên GitHub (2 phút)</a:t>
            </a:r>
          </a:p>
          <a:p>
            <a:pPr>
              <a:defRPr sz="1400">
                <a:solidFill>
                  <a:srgbClr val="94A3B8"/>
                </a:solidFill>
              </a:defRPr>
            </a:pPr>
            <a:r>
              <a:t>    Phân nhánh Git, Quy ước commit, Quản lý tiến độ bằng GitHub Issues &amp; Pull Requests.</a:t>
            </a:r>
          </a:p>
          <a:p>
            <a:pPr>
              <a:spcBef>
                <a:spcPts val="1200"/>
              </a:spcBef>
              <a:defRPr sz="1800" b="1">
                <a:solidFill>
                  <a:srgbClr val="F8FAFC"/>
                </a:solidFill>
              </a:defRPr>
            </a:pPr>
            <a:r>
              <a:t>• 2. Tóm tắt chuyên đề tài liệu Selenium-Python (6 phút)</a:t>
            </a:r>
          </a:p>
          <a:p>
            <a:pPr>
              <a:defRPr sz="1400">
                <a:solidFill>
                  <a:srgbClr val="94A3B8"/>
                </a:solidFill>
              </a:defRPr>
            </a:pPr>
            <a:r>
              <a:t>    Mục 2.1-2.4 (unittest.TestCase, setUp, tearDown), Mục 3.1 &amp; 7.20 (WebElement), Mục 4.1 &amp; 7.4 (By.ID &amp; Keys).</a:t>
            </a:r>
          </a:p>
          <a:p>
            <a:pPr>
              <a:spcBef>
                <a:spcPts val="1200"/>
              </a:spcBef>
              <a:defRPr sz="1800" b="1">
                <a:solidFill>
                  <a:srgbClr val="F8FAFC"/>
                </a:solidFill>
              </a:defRPr>
            </a:pPr>
            <a:r>
              <a:t>• 3. Thiết kế Kịch bản kiểm thử &amp; Triển khai Mã nguồn (4 phút)</a:t>
            </a:r>
          </a:p>
          <a:p>
            <a:pPr>
              <a:defRPr sz="1400">
                <a:solidFill>
                  <a:srgbClr val="94A3B8"/>
                </a:solidFill>
              </a:defRPr>
            </a:pPr>
            <a:r>
              <a:t>    6 Test Cases trên /key_presses và /inputs, ứng dụng đủ 13 hàm bắt buộc.</a:t>
            </a:r>
          </a:p>
          <a:p>
            <a:pPr>
              <a:spcBef>
                <a:spcPts val="1200"/>
              </a:spcBef>
              <a:defRPr sz="1800" b="1">
                <a:solidFill>
                  <a:srgbClr val="F8FAFC"/>
                </a:solidFill>
              </a:defRPr>
            </a:pPr>
            <a:r>
              <a:t>• 4. Kết quả chạy kiểm thử &amp; Minh chứng thực tế (2 phút)</a:t>
            </a:r>
          </a:p>
          <a:p>
            <a:pPr>
              <a:defRPr sz="1400">
                <a:solidFill>
                  <a:srgbClr val="94A3B8"/>
                </a:solidFill>
              </a:defRPr>
            </a:pPr>
            <a:r>
              <a:t>    Báo cáo pytest 100% Passed (6/6), Báo cáo HTML trực quan và ảnh chụp màn hình.</a:t>
            </a:r>
          </a:p>
          <a:p>
            <a:pPr>
              <a:spcBef>
                <a:spcPts val="1200"/>
              </a:spcBef>
              <a:defRPr sz="1800" b="1">
                <a:solidFill>
                  <a:srgbClr val="F8FAFC"/>
                </a:solidFill>
              </a:defRPr>
            </a:pPr>
            <a:r>
              <a:t>• 5. Đánh giá, Bài học kinh nghiệm &amp; Hỏi đáp Q&amp;A (1 phút)</a:t>
            </a:r>
          </a:p>
          <a:p>
            <a:pPr>
              <a:defRPr sz="1400">
                <a:solidFill>
                  <a:srgbClr val="94A3B8"/>
                </a:solidFill>
              </a:defRPr>
            </a:pPr>
            <a:r>
              <a:t>    Xử lý chặn reload form HTML, tối ưu hoá thời gian chạy eager.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a:spAutoFit/>
          </a:bodyPr>
          <a:lstStyle/>
          <a:p>
            <a:pPr>
              <a:defRPr sz="2800" b="1">
                <a:solidFill>
                  <a:srgbClr val="38BDF8"/>
                </a:solidFill>
                <a:latin typeface="Arial"/>
              </a:defRPr>
            </a:pPr>
            <a:r>
              <a:t>2. QUY TRÌNH LÀM VIỆC NHÓM TRÊN GITHUB</a:t>
            </a:r>
          </a:p>
        </p:txBody>
      </p:sp>
      <p:sp>
        <p:nvSpPr>
          <p:cNvPr id="4" name="Rectangle 3"/>
          <p:cNvSpPr/>
          <p:nvPr/>
        </p:nvSpPr>
        <p:spPr>
          <a:xfrm>
            <a:off x="731520" y="118872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365760"/>
          </a:xfrm>
          <a:prstGeom prst="rect">
            <a:avLst/>
          </a:prstGeom>
          <a:noFill/>
        </p:spPr>
        <p:txBody>
          <a:bodyPr wrap="none">
            <a:spAutoFit/>
          </a:bodyPr>
          <a:lstStyle/>
          <a:p>
            <a:pPr>
              <a:defRPr sz="1100">
                <a:solidFill>
                  <a:srgbClr val="94A3B8"/>
                </a:solidFill>
              </a:defRPr>
            </a:pPr>
            <a:r>
              <a:t>Học phần: Kiểm thử phần mềm | Nhóm W1 – Tuần 6: Nhập liệu &amp; phím đặc biệt</a:t>
            </a:r>
          </a:p>
        </p:txBody>
      </p:sp>
      <p:sp>
        <p:nvSpPr>
          <p:cNvPr id="6" name="TextBox 5"/>
          <p:cNvSpPr txBox="1"/>
          <p:nvPr/>
        </p:nvSpPr>
        <p:spPr>
          <a:xfrm>
            <a:off x="731520" y="1463040"/>
            <a:ext cx="10728655" cy="4572000"/>
          </a:xfrm>
          <a:prstGeom prst="rect">
            <a:avLst/>
          </a:prstGeom>
          <a:noFill/>
        </p:spPr>
        <p:txBody>
          <a:bodyPr wrap="square">
            <a:spAutoFit/>
          </a:bodyPr>
          <a:lstStyle/>
          <a:p/>
          <a:p>
            <a:pPr>
              <a:spcBef>
                <a:spcPts val="600"/>
              </a:spcBef>
              <a:defRPr sz="1600" b="1">
                <a:solidFill>
                  <a:srgbClr val="F8FAFC"/>
                </a:solidFill>
              </a:defRPr>
            </a:pPr>
            <a:r>
              <a:t>• Mô hình phân nhánh chuẩn mực:</a:t>
            </a:r>
          </a:p>
          <a:p>
            <a:pPr>
              <a:spcBef>
                <a:spcPts val="600"/>
              </a:spcBef>
              <a:defRPr sz="1600" b="0">
                <a:solidFill>
                  <a:srgbClr val="94A3B8"/>
                </a:solidFill>
              </a:defRPr>
            </a:pPr>
            <a:r>
              <a:t>   - main: Bản phát hành ổn định, bảo vệ bằng branch protection rule, chỉ nhận code qua PR.</a:t>
            </a:r>
          </a:p>
          <a:p>
            <a:pPr>
              <a:spcBef>
                <a:spcPts val="600"/>
              </a:spcBef>
              <a:defRPr sz="1600" b="0">
                <a:solidFill>
                  <a:srgbClr val="94A3B8"/>
                </a:solidFill>
              </a:defRPr>
            </a:pPr>
            <a:r>
              <a:t>   - week-06: Nhánh tích hợp chung của tuần 6, tạo từ main.</a:t>
            </a:r>
          </a:p>
          <a:p>
            <a:pPr>
              <a:spcBef>
                <a:spcPts val="600"/>
              </a:spcBef>
              <a:defRPr sz="1600" b="0">
                <a:solidFill>
                  <a:srgbClr val="94A3B8"/>
                </a:solidFill>
              </a:defRPr>
            </a:pPr>
            <a:r>
              <a:t>   - t06-&lt;chức_năng&gt;: Các nhánh con độc lập (t06-testcases, t06-keypresses, t06-inputs, t06-slide).</a:t>
            </a:r>
          </a:p>
          <a:p>
            <a:pPr>
              <a:spcBef>
                <a:spcPts val="600"/>
              </a:spcBef>
              <a:defRPr sz="1600" b="1">
                <a:solidFill>
                  <a:srgbClr val="F8FAFC"/>
                </a:solidFill>
              </a:defRPr>
            </a:pPr>
            <a:r>
              <a:t>• Quản lý tiến độ bằng GitHub Issues &amp; Milestones:</a:t>
            </a:r>
          </a:p>
          <a:p>
            <a:pPr>
              <a:spcBef>
                <a:spcPts val="600"/>
              </a:spcBef>
              <a:defRPr sz="1600" b="0">
                <a:solidFill>
                  <a:srgbClr val="94A3B8"/>
                </a:solidFill>
              </a:defRPr>
            </a:pPr>
            <a:r>
              <a:t>   - Tạo Milestone: Tuần 6 – Nhập liệu &amp; phím đặc biệt.</a:t>
            </a:r>
          </a:p>
          <a:p>
            <a:pPr>
              <a:spcBef>
                <a:spcPts val="600"/>
              </a:spcBef>
              <a:defRPr sz="1600" b="0">
                <a:solidFill>
                  <a:srgbClr val="94A3B8"/>
                </a:solidFill>
              </a:defRPr>
            </a:pPr>
            <a:r>
              <a:t>   - Phân chia 4 Issues: Gán nhãn week-06, code, tai-lieu, slide và gán người phụ trách.</a:t>
            </a:r>
          </a:p>
          <a:p>
            <a:pPr>
              <a:spcBef>
                <a:spcPts val="600"/>
              </a:spcBef>
              <a:defRPr sz="1600" b="1">
                <a:solidFill>
                  <a:srgbClr val="F8FAFC"/>
                </a:solidFill>
              </a:defRPr>
            </a:pPr>
            <a:r>
              <a:t>• Quy trình Pull Request và Review code:</a:t>
            </a:r>
          </a:p>
          <a:p>
            <a:pPr>
              <a:spcBef>
                <a:spcPts val="600"/>
              </a:spcBef>
              <a:defRPr sz="1600" b="0">
                <a:solidFill>
                  <a:srgbClr val="94A3B8"/>
                </a:solidFill>
              </a:defRPr>
            </a:pPr>
            <a:r>
              <a:t>   - Mỗi thành viên hoàn thành mở PR vào week-06 kèm cú pháp: Closes #&lt;id_issue&gt;.</a:t>
            </a:r>
          </a:p>
          <a:p>
            <a:pPr>
              <a:spcBef>
                <a:spcPts val="600"/>
              </a:spcBef>
              <a:defRPr sz="1600" b="0">
                <a:solidFill>
                  <a:srgbClr val="94A3B8"/>
                </a:solidFill>
              </a:defRPr>
            </a:pPr>
            <a:r>
              <a:t>   - Reviewer kiểm tra, Approve trước khi Merge vào nhánh tuần. Cuối tuần mở PR từ week-06 vào main.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a:spAutoFit/>
          </a:bodyPr>
          <a:lstStyle/>
          <a:p>
            <a:pPr>
              <a:defRPr sz="2800" b="1">
                <a:solidFill>
                  <a:srgbClr val="38BDF8"/>
                </a:solidFill>
                <a:latin typeface="Arial"/>
              </a:defRPr>
            </a:pPr>
            <a:r>
              <a:t>3. TÀI LIỆU SELENIUM: CẤU TRÚC TEST VỚI UNITTEST (MỤC 2.1 – 2.4)</a:t>
            </a:r>
          </a:p>
        </p:txBody>
      </p:sp>
      <p:sp>
        <p:nvSpPr>
          <p:cNvPr id="4" name="Rectangle 3"/>
          <p:cNvSpPr/>
          <p:nvPr/>
        </p:nvSpPr>
        <p:spPr>
          <a:xfrm>
            <a:off x="731520" y="118872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365760"/>
          </a:xfrm>
          <a:prstGeom prst="rect">
            <a:avLst/>
          </a:prstGeom>
          <a:noFill/>
        </p:spPr>
        <p:txBody>
          <a:bodyPr wrap="none">
            <a:spAutoFit/>
          </a:bodyPr>
          <a:lstStyle/>
          <a:p>
            <a:pPr>
              <a:defRPr sz="1100">
                <a:solidFill>
                  <a:srgbClr val="94A3B8"/>
                </a:solidFill>
              </a:defRPr>
            </a:pPr>
            <a:r>
              <a:t>Học phần: Kiểm thử phần mềm | Nhóm W1 – Tuần 6: Nhập liệu &amp; phím đặc biệt</a:t>
            </a:r>
          </a:p>
        </p:txBody>
      </p:sp>
      <p:sp>
        <p:nvSpPr>
          <p:cNvPr id="6" name="TextBox 5"/>
          <p:cNvSpPr txBox="1"/>
          <p:nvPr/>
        </p:nvSpPr>
        <p:spPr>
          <a:xfrm>
            <a:off x="731520" y="1463040"/>
            <a:ext cx="5303520" cy="4572000"/>
          </a:xfrm>
          <a:prstGeom prst="rect">
            <a:avLst/>
          </a:prstGeom>
          <a:noFill/>
        </p:spPr>
        <p:txBody>
          <a:bodyPr wrap="square">
            <a:spAutoFit/>
          </a:bodyPr>
          <a:lstStyle/>
          <a:p/>
          <a:p>
            <a:pPr>
              <a:spcBef>
                <a:spcPts val="800"/>
              </a:spcBef>
              <a:defRPr sz="1500" b="1">
                <a:solidFill>
                  <a:srgbClr val="F8FAFC"/>
                </a:solidFill>
              </a:defRPr>
            </a:pPr>
            <a:r>
              <a:t>• unittest.TestCase (Mục 2.3):</a:t>
            </a:r>
          </a:p>
          <a:p>
            <a:pPr>
              <a:spcBef>
                <a:spcPts val="800"/>
              </a:spcBef>
              <a:defRPr sz="1500" b="0">
                <a:solidFill>
                  <a:srgbClr val="94A3B8"/>
                </a:solidFill>
              </a:defRPr>
            </a:pPr>
            <a:r>
              <a:t>   Kế thừa lớp chuẩn để tự động hóa phát hiện và chạy test cases.</a:t>
            </a:r>
          </a:p>
          <a:p>
            <a:pPr>
              <a:spcBef>
                <a:spcPts val="800"/>
              </a:spcBef>
              <a:defRPr sz="1500" b="1">
                <a:solidFill>
                  <a:srgbClr val="F8FAFC"/>
                </a:solidFill>
              </a:defRPr>
            </a:pPr>
            <a:r>
              <a:t>• Phương thức setUp() (Mục 2.4):</a:t>
            </a:r>
          </a:p>
          <a:p>
            <a:pPr>
              <a:spcBef>
                <a:spcPts val="800"/>
              </a:spcBef>
              <a:defRPr sz="1500" b="0">
                <a:solidFill>
                  <a:srgbClr val="94A3B8"/>
                </a:solidFill>
              </a:defRPr>
            </a:pPr>
            <a:r>
              <a:t>   Chạy trước mỗi test case. Đảm bảo môi trường kiểm thử và WebDriver luôn sẵn sàng.</a:t>
            </a:r>
          </a:p>
          <a:p>
            <a:pPr>
              <a:spcBef>
                <a:spcPts val="800"/>
              </a:spcBef>
              <a:defRPr sz="1500" b="1">
                <a:solidFill>
                  <a:srgbClr val="F8FAFC"/>
                </a:solidFill>
              </a:defRPr>
            </a:pPr>
            <a:r>
              <a:t>• Phương thức tearDown() (Mục 2.4):</a:t>
            </a:r>
          </a:p>
          <a:p>
            <a:pPr>
              <a:spcBef>
                <a:spcPts val="800"/>
              </a:spcBef>
              <a:defRPr sz="1500" b="0">
                <a:solidFill>
                  <a:srgbClr val="94A3B8"/>
                </a:solidFill>
              </a:defRPr>
            </a:pPr>
            <a:r>
              <a:t>   Chạy sau mỗi test case để dọn dẹp dữ liệu, giải phóng tài nguyên trình duyệt.</a:t>
            </a:r>
          </a:p>
          <a:p>
            <a:pPr>
              <a:spcBef>
                <a:spcPts val="800"/>
              </a:spcBef>
              <a:defRPr sz="1500" b="1">
                <a:solidFill>
                  <a:srgbClr val="F8FAFC"/>
                </a:solidFill>
              </a:defRPr>
            </a:pPr>
            <a:r>
              <a:t>• Tối ưu hoá thực tế:</a:t>
            </a:r>
          </a:p>
          <a:p>
            <a:pPr>
              <a:spcBef>
                <a:spcPts val="800"/>
              </a:spcBef>
              <a:defRPr sz="1500" b="0">
                <a:solidFill>
                  <a:srgbClr val="94A3B8"/>
                </a:solidFill>
              </a:defRPr>
            </a:pPr>
            <a:r>
              <a:t>   Áp dụng setUpClass() và tearDownClass() tái sử dụng phiên Chrome, giảm thời gian chạy từ 30s xuống 5s.</a:t>
            </a:r>
          </a:p>
        </p:txBody>
      </p:sp>
      <p:sp>
        <p:nvSpPr>
          <p:cNvPr id="7" name="Rounded Rectangle 6"/>
          <p:cNvSpPr/>
          <p:nvPr/>
        </p:nvSpPr>
        <p:spPr>
          <a:xfrm>
            <a:off x="6217920" y="1463040"/>
            <a:ext cx="521208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300">
                <a:solidFill>
                  <a:srgbClr val="34D399"/>
                </a:solidFill>
                <a:latin typeface="Courier New"/>
              </a:defRPr>
            </a:pPr>
            <a:r>
              <a:t>import unittest</a:t>
            </a:r>
            <a:br/>
            <a:r>
              <a:t>from selenium import webdriver</a:t>
            </a:r>
            <a:br/>
            <a:br/>
            <a:r>
              <a:t>class TestW1(unittest.TestCase):</a:t>
            </a:r>
            <a:br/>
            <a:r>
              <a:t>    @classmethod</a:t>
            </a:r>
            <a:br/>
            <a:r>
              <a:t>    def setUpClass(cls):</a:t>
            </a:r>
            <a:br/>
            <a:r>
              <a:t>        # Khởi tạo WebDriver dùng chung</a:t>
            </a:r>
            <a:br/>
            <a:r>
              <a:t>        cls.driver = webdriver.Chrome(options)</a:t>
            </a:r>
            <a:br/>
            <a:br/>
            <a:r>
              <a:t>    def setUp(self):</a:t>
            </a:r>
            <a:br/>
            <a:r>
              <a:t>        # Kiểm tra trước mỗi test</a:t>
            </a:r>
            <a:br/>
            <a:r>
              <a:t>        self.assertIsNotNone(self.driver)</a:t>
            </a:r>
            <a:br/>
            <a:br/>
            <a:r>
              <a:t>    def tearDown(self):</a:t>
            </a:r>
            <a:br/>
            <a:r>
              <a:t>        # Dọn dẹp sau mỗi test</a:t>
            </a:r>
            <a:br/>
            <a:r>
              <a:t>        pass</a:t>
            </a:r>
            <a:br/>
            <a:br/>
            <a:r>
              <a:t>    @classmethod</a:t>
            </a:r>
            <a:br/>
            <a:r>
              <a:t>    def tearDownClass(cls):</a:t>
            </a:r>
            <a:br/>
            <a:r>
              <a:t>        cls.driver.quit()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a:spAutoFit/>
          </a:bodyPr>
          <a:lstStyle/>
          <a:p>
            <a:pPr>
              <a:defRPr sz="2800" b="1">
                <a:solidFill>
                  <a:srgbClr val="38BDF8"/>
                </a:solidFill>
                <a:latin typeface="Arial"/>
              </a:defRPr>
            </a:pPr>
            <a:r>
              <a:t>4. BỘ ĐỊNH VỊ BY ID &amp; PHÍM ĐẶC BIỆT KEYS (MỤC 3.1, 4.1, 7.4, 7.20)</a:t>
            </a:r>
          </a:p>
        </p:txBody>
      </p:sp>
      <p:sp>
        <p:nvSpPr>
          <p:cNvPr id="4" name="Rectangle 3"/>
          <p:cNvSpPr/>
          <p:nvPr/>
        </p:nvSpPr>
        <p:spPr>
          <a:xfrm>
            <a:off x="731520" y="118872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365760"/>
          </a:xfrm>
          <a:prstGeom prst="rect">
            <a:avLst/>
          </a:prstGeom>
          <a:noFill/>
        </p:spPr>
        <p:txBody>
          <a:bodyPr wrap="none">
            <a:spAutoFit/>
          </a:bodyPr>
          <a:lstStyle/>
          <a:p>
            <a:pPr>
              <a:defRPr sz="1100">
                <a:solidFill>
                  <a:srgbClr val="94A3B8"/>
                </a:solidFill>
              </a:defRPr>
            </a:pPr>
            <a:r>
              <a:t>Học phần: Kiểm thử phần mềm | Nhóm W1 – Tuần 6: Nhập liệu &amp; phím đặc biệt</a:t>
            </a:r>
          </a:p>
        </p:txBody>
      </p:sp>
      <p:sp>
        <p:nvSpPr>
          <p:cNvPr id="6" name="TextBox 5"/>
          <p:cNvSpPr txBox="1"/>
          <p:nvPr/>
        </p:nvSpPr>
        <p:spPr>
          <a:xfrm>
            <a:off x="731520" y="1463040"/>
            <a:ext cx="10728655" cy="4572000"/>
          </a:xfrm>
          <a:prstGeom prst="rect">
            <a:avLst/>
          </a:prstGeom>
          <a:noFill/>
        </p:spPr>
        <p:txBody>
          <a:bodyPr wrap="square">
            <a:spAutoFit/>
          </a:bodyPr>
          <a:lstStyle/>
          <a:p/>
          <a:p>
            <a:pPr>
              <a:spcBef>
                <a:spcPts val="1000"/>
              </a:spcBef>
              <a:defRPr sz="1500">
                <a:solidFill>
                  <a:srgbClr val="F8FAFC"/>
                </a:solidFill>
              </a:defRPr>
            </a:pPr>
            <a:r>
              <a:t>• By.ID (Mục 4.1): Phương thức định vị nhanh nhất và có tính duy nhất cao nhất trên DOM. Dùng cho input id='target' và thông báo id='result'.</a:t>
            </a:r>
          </a:p>
          <a:p>
            <a:pPr>
              <a:spcBef>
                <a:spcPts val="1000"/>
              </a:spcBef>
              <a:defRPr sz="1500">
                <a:solidFill>
                  <a:srgbClr val="F8FAFC"/>
                </a:solidFill>
              </a:defRPr>
            </a:pPr>
            <a:r>
              <a:t>• WebElement (Mục 3.1 &amp; 7.20): Đối tượng đại diện cho thẻ HTML. Các phương thức: send_keys() để nhập liệu, clear() để làm rỗng ô nhập, get_attribute() để đọc giá trị thuộc tính HTML, và .text để lấy chữ hiển thị.</a:t>
            </a:r>
          </a:p>
          <a:p>
            <a:pPr>
              <a:spcBef>
                <a:spcPts val="1000"/>
              </a:spcBef>
              <a:defRPr sz="1500">
                <a:solidFill>
                  <a:srgbClr val="F8FAFC"/>
                </a:solidFill>
              </a:defRPr>
            </a:pPr>
            <a:r>
              <a:t>• Keys.ENTER (Mục 7.4): Mô phỏng gõ phím Enter. Cần lưu ý xử lý chặn submit form tự nhiên để tránh reload mất DOM.</a:t>
            </a:r>
          </a:p>
          <a:p>
            <a:pPr>
              <a:spcBef>
                <a:spcPts val="1000"/>
              </a:spcBef>
              <a:defRPr sz="1500">
                <a:solidFill>
                  <a:srgbClr val="F8FAFC"/>
                </a:solidFill>
              </a:defRPr>
            </a:pPr>
            <a:r>
              <a:t>• Keys.TAB (Mục 7.4): Mô phỏng phím Tab chuyển focus. Trang phản hồi dòng thông báo 'You entered: TAB'.</a:t>
            </a:r>
          </a:p>
          <a:p>
            <a:pPr>
              <a:spcBef>
                <a:spcPts val="1000"/>
              </a:spcBef>
              <a:defRPr sz="1500">
                <a:solidFill>
                  <a:srgbClr val="F8FAFC"/>
                </a:solidFill>
              </a:defRPr>
            </a:pPr>
            <a:r>
              <a:t>• Keys.ARROW_UP (Mục 7.4): Mô phỏng phím mũi tên lên. Trên trang key_presses hiển thị 'You entered: UP', trên trang inputs giúp tăng giá trị số lên 1 đơn vị.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a:spAutoFit/>
          </a:bodyPr>
          <a:lstStyle/>
          <a:p>
            <a:pPr>
              <a:defRPr sz="2800" b="1">
                <a:solidFill>
                  <a:srgbClr val="38BDF8"/>
                </a:solidFill>
                <a:latin typeface="Arial"/>
              </a:defRPr>
            </a:pPr>
            <a:r>
              <a:t>5. BẢNG THIẾT KẾ KỊCH BẢN KIỂM THỬ (6 TEST CASES)</a:t>
            </a:r>
          </a:p>
        </p:txBody>
      </p:sp>
      <p:sp>
        <p:nvSpPr>
          <p:cNvPr id="4" name="Rectangle 3"/>
          <p:cNvSpPr/>
          <p:nvPr/>
        </p:nvSpPr>
        <p:spPr>
          <a:xfrm>
            <a:off x="731520" y="118872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365760"/>
          </a:xfrm>
          <a:prstGeom prst="rect">
            <a:avLst/>
          </a:prstGeom>
          <a:noFill/>
        </p:spPr>
        <p:txBody>
          <a:bodyPr wrap="none">
            <a:spAutoFit/>
          </a:bodyPr>
          <a:lstStyle/>
          <a:p>
            <a:pPr>
              <a:defRPr sz="1100">
                <a:solidFill>
                  <a:srgbClr val="94A3B8"/>
                </a:solidFill>
              </a:defRPr>
            </a:pPr>
            <a:r>
              <a:t>Học phần: Kiểm thử phần mềm | Nhóm W1 – Tuần 6: Nhập liệu &amp; phím đặc biệt</a:t>
            </a:r>
          </a:p>
        </p:txBody>
      </p:sp>
      <p:graphicFrame>
        <p:nvGraphicFramePr>
          <p:cNvPr id="6" name="Table 5"/>
          <p:cNvGraphicFramePr>
            <a:graphicFrameLocks noGrp="1"/>
          </p:cNvGraphicFramePr>
          <p:nvPr/>
        </p:nvGraphicFramePr>
        <p:xfrm>
          <a:off x="731520" y="1554480"/>
          <a:ext cx="10728655" cy="4389120"/>
        </p:xfrm>
        <a:graphic>
          <a:graphicData uri="http://schemas.openxmlformats.org/drawingml/2006/table">
            <a:tbl>
              <a:tblPr firstRow="1" bandRow="1">
                <a:tableStyleId>{5C22544A-7EE6-4342-B048-85BDC9FD1C3A}</a:tableStyleId>
              </a:tblPr>
              <a:tblGrid>
                <a:gridCol w="914400"/>
                <a:gridCol w="2560320"/>
                <a:gridCol w="1645920"/>
                <a:gridCol w="2560320"/>
                <a:gridCol w="2011680"/>
                <a:gridCol w="1036015"/>
              </a:tblGrid>
              <a:tr h="627017">
                <a:tc>
                  <a:txBody>
                    <a:bodyPr/>
                    <a:lstStyle/>
                    <a:p>
                      <a:pPr>
                        <a:defRPr b="1" sz="1300">
                          <a:solidFill>
                            <a:srgbClr val="38BDF8"/>
                          </a:solidFill>
                        </a:defRPr>
                      </a:pPr>
                      <a:r>
                        <a:t>Mã TC</a:t>
                      </a:r>
                    </a:p>
                  </a:txBody>
                  <a:tcPr>
                    <a:solidFill>
                      <a:srgbClr val="1E293B"/>
                    </a:solidFill>
                  </a:tcPr>
                </a:tc>
                <a:tc>
                  <a:txBody>
                    <a:bodyPr/>
                    <a:lstStyle/>
                    <a:p>
                      <a:pPr>
                        <a:defRPr b="1" sz="1300">
                          <a:solidFill>
                            <a:srgbClr val="38BDF8"/>
                          </a:solidFill>
                        </a:defRPr>
                      </a:pPr>
                      <a:r>
                        <a:t>Tên ca kiểm thử</a:t>
                      </a:r>
                    </a:p>
                  </a:txBody>
                  <a:tcPr>
                    <a:solidFill>
                      <a:srgbClr val="1E293B"/>
                    </a:solidFill>
                  </a:tcPr>
                </a:tc>
                <a:tc>
                  <a:txBody>
                    <a:bodyPr/>
                    <a:lstStyle/>
                    <a:p>
                      <a:pPr>
                        <a:defRPr b="1" sz="1300">
                          <a:solidFill>
                            <a:srgbClr val="38BDF8"/>
                          </a:solidFill>
                        </a:defRPr>
                      </a:pPr>
                      <a:r>
                        <a:t>Trang</a:t>
                      </a:r>
                    </a:p>
                  </a:txBody>
                  <a:tcPr>
                    <a:solidFill>
                      <a:srgbClr val="1E293B"/>
                    </a:solidFill>
                  </a:tcPr>
                </a:tc>
                <a:tc>
                  <a:txBody>
                    <a:bodyPr/>
                    <a:lstStyle/>
                    <a:p>
                      <a:pPr>
                        <a:defRPr b="1" sz="1300">
                          <a:solidFill>
                            <a:srgbClr val="38BDF8"/>
                          </a:solidFill>
                        </a:defRPr>
                      </a:pPr>
                      <a:r>
                        <a:t>Hàm sử dụng</a:t>
                      </a:r>
                    </a:p>
                  </a:txBody>
                  <a:tcPr>
                    <a:solidFill>
                      <a:srgbClr val="1E293B"/>
                    </a:solidFill>
                  </a:tcPr>
                </a:tc>
                <a:tc>
                  <a:txBody>
                    <a:bodyPr/>
                    <a:lstStyle/>
                    <a:p>
                      <a:pPr>
                        <a:defRPr b="1" sz="1300">
                          <a:solidFill>
                            <a:srgbClr val="38BDF8"/>
                          </a:solidFill>
                        </a:defRPr>
                      </a:pPr>
                      <a:r>
                        <a:t>Kỳ vọng</a:t>
                      </a:r>
                    </a:p>
                  </a:txBody>
                  <a:tcPr>
                    <a:solidFill>
                      <a:srgbClr val="1E293B"/>
                    </a:solidFill>
                  </a:tcPr>
                </a:tc>
                <a:tc>
                  <a:txBody>
                    <a:bodyPr/>
                    <a:lstStyle/>
                    <a:p>
                      <a:pPr>
                        <a:defRPr b="1" sz="1300">
                          <a:solidFill>
                            <a:srgbClr val="38BDF8"/>
                          </a:solidFill>
                        </a:defRPr>
                      </a:pPr>
                      <a:r>
                        <a:t>Kết quả</a:t>
                      </a:r>
                    </a:p>
                  </a:txBody>
                  <a:tcPr>
                    <a:solidFill>
                      <a:srgbClr val="1E293B"/>
                    </a:solidFill>
                  </a:tcPr>
                </a:tc>
              </a:tr>
              <a:tr h="627017">
                <a:tc>
                  <a:txBody>
                    <a:bodyPr/>
                    <a:lstStyle/>
                    <a:p>
                      <a:pPr>
                        <a:defRPr sz="1200">
                          <a:solidFill>
                            <a:srgbClr val="F8FAFC"/>
                          </a:solidFill>
                        </a:defRPr>
                      </a:pPr>
                      <a:r>
                        <a:t>TC01</a:t>
                      </a:r>
                    </a:p>
                  </a:txBody>
                  <a:tcPr>
                    <a:solidFill>
                      <a:srgbClr val="0F172A"/>
                    </a:solidFill>
                  </a:tcPr>
                </a:tc>
                <a:tc>
                  <a:txBody>
                    <a:bodyPr/>
                    <a:lstStyle/>
                    <a:p>
                      <a:pPr>
                        <a:defRPr sz="1200">
                          <a:solidFill>
                            <a:srgbClr val="F8FAFC"/>
                          </a:solidFill>
                        </a:defRPr>
                      </a:pPr>
                      <a:r>
                        <a:t>Gõ phím ENTER</a:t>
                      </a:r>
                    </a:p>
                  </a:txBody>
                  <a:tcPr>
                    <a:solidFill>
                      <a:srgbClr val="0F172A"/>
                    </a:solidFill>
                  </a:tcPr>
                </a:tc>
                <a:tc>
                  <a:txBody>
                    <a:bodyPr/>
                    <a:lstStyle/>
                    <a:p>
                      <a:pPr>
                        <a:defRPr sz="1200">
                          <a:solidFill>
                            <a:srgbClr val="F8FAFC"/>
                          </a:solidFill>
                        </a:defRPr>
                      </a:pPr>
                      <a:r>
                        <a:t>/key_presses</a:t>
                      </a:r>
                    </a:p>
                  </a:txBody>
                  <a:tcPr>
                    <a:solidFill>
                      <a:srgbClr val="0F172A"/>
                    </a:solidFill>
                  </a:tcPr>
                </a:tc>
                <a:tc>
                  <a:txBody>
                    <a:bodyPr/>
                    <a:lstStyle/>
                    <a:p>
                      <a:pPr>
                        <a:defRPr sz="1200">
                          <a:solidFill>
                            <a:srgbClr val="F8FAFC"/>
                          </a:solidFill>
                        </a:defRPr>
                      </a:pPr>
                      <a:r>
                        <a:t>get, By.ID, send_keys, Keys.ENTER, text</a:t>
                      </a:r>
                    </a:p>
                  </a:txBody>
                  <a:tcPr>
                    <a:solidFill>
                      <a:srgbClr val="0F172A"/>
                    </a:solidFill>
                  </a:tcPr>
                </a:tc>
                <a:tc>
                  <a:txBody>
                    <a:bodyPr/>
                    <a:lstStyle/>
                    <a:p>
                      <a:pPr>
                        <a:defRPr sz="1200">
                          <a:solidFill>
                            <a:srgbClr val="F8FAFC"/>
                          </a:solidFill>
                        </a:defRPr>
                      </a:pPr>
                      <a:r>
                        <a:t>"You entered: ENTER"</a:t>
                      </a:r>
                    </a:p>
                  </a:txBody>
                  <a:tcPr>
                    <a:solidFill>
                      <a:srgbClr val="0F172A"/>
                    </a:solidFill>
                  </a:tcPr>
                </a:tc>
                <a:tc>
                  <a:txBody>
                    <a:bodyPr/>
                    <a:lstStyle/>
                    <a:p>
                      <a:pPr>
                        <a:defRPr sz="1200" b="1">
                          <a:solidFill>
                            <a:srgbClr val="34D399"/>
                          </a:solidFill>
                        </a:defRPr>
                      </a:pPr>
                      <a:r>
                        <a:t>PASSED</a:t>
                      </a:r>
                    </a:p>
                  </a:txBody>
                  <a:tcPr>
                    <a:solidFill>
                      <a:srgbClr val="0F172A"/>
                    </a:solidFill>
                  </a:tcPr>
                </a:tc>
              </a:tr>
              <a:tr h="627017">
                <a:tc>
                  <a:txBody>
                    <a:bodyPr/>
                    <a:lstStyle/>
                    <a:p>
                      <a:pPr>
                        <a:defRPr sz="1200">
                          <a:solidFill>
                            <a:srgbClr val="F8FAFC"/>
                          </a:solidFill>
                        </a:defRPr>
                      </a:pPr>
                      <a:r>
                        <a:t>TC02</a:t>
                      </a:r>
                    </a:p>
                  </a:txBody>
                  <a:tcPr>
                    <a:solidFill>
                      <a:srgbClr val="0F172A"/>
                    </a:solidFill>
                  </a:tcPr>
                </a:tc>
                <a:tc>
                  <a:txBody>
                    <a:bodyPr/>
                    <a:lstStyle/>
                    <a:p>
                      <a:pPr>
                        <a:defRPr sz="1200">
                          <a:solidFill>
                            <a:srgbClr val="F8FAFC"/>
                          </a:solidFill>
                        </a:defRPr>
                      </a:pPr>
                      <a:r>
                        <a:t>Gõ phím TAB</a:t>
                      </a:r>
                    </a:p>
                  </a:txBody>
                  <a:tcPr>
                    <a:solidFill>
                      <a:srgbClr val="0F172A"/>
                    </a:solidFill>
                  </a:tcPr>
                </a:tc>
                <a:tc>
                  <a:txBody>
                    <a:bodyPr/>
                    <a:lstStyle/>
                    <a:p>
                      <a:pPr>
                        <a:defRPr sz="1200">
                          <a:solidFill>
                            <a:srgbClr val="F8FAFC"/>
                          </a:solidFill>
                        </a:defRPr>
                      </a:pPr>
                      <a:r>
                        <a:t>/key_presses</a:t>
                      </a:r>
                    </a:p>
                  </a:txBody>
                  <a:tcPr>
                    <a:solidFill>
                      <a:srgbClr val="0F172A"/>
                    </a:solidFill>
                  </a:tcPr>
                </a:tc>
                <a:tc>
                  <a:txBody>
                    <a:bodyPr/>
                    <a:lstStyle/>
                    <a:p>
                      <a:pPr>
                        <a:defRPr sz="1200">
                          <a:solidFill>
                            <a:srgbClr val="F8FAFC"/>
                          </a:solidFill>
                        </a:defRPr>
                      </a:pPr>
                      <a:r>
                        <a:t>get, By.ID, send_keys, Keys.TAB, text</a:t>
                      </a:r>
                    </a:p>
                  </a:txBody>
                  <a:tcPr>
                    <a:solidFill>
                      <a:srgbClr val="0F172A"/>
                    </a:solidFill>
                  </a:tcPr>
                </a:tc>
                <a:tc>
                  <a:txBody>
                    <a:bodyPr/>
                    <a:lstStyle/>
                    <a:p>
                      <a:pPr>
                        <a:defRPr sz="1200">
                          <a:solidFill>
                            <a:srgbClr val="F8FAFC"/>
                          </a:solidFill>
                        </a:defRPr>
                      </a:pPr>
                      <a:r>
                        <a:t>"You entered: TAB"</a:t>
                      </a:r>
                    </a:p>
                  </a:txBody>
                  <a:tcPr>
                    <a:solidFill>
                      <a:srgbClr val="0F172A"/>
                    </a:solidFill>
                  </a:tcPr>
                </a:tc>
                <a:tc>
                  <a:txBody>
                    <a:bodyPr/>
                    <a:lstStyle/>
                    <a:p>
                      <a:pPr>
                        <a:defRPr sz="1200" b="1">
                          <a:solidFill>
                            <a:srgbClr val="34D399"/>
                          </a:solidFill>
                        </a:defRPr>
                      </a:pPr>
                      <a:r>
                        <a:t>PASSED</a:t>
                      </a:r>
                    </a:p>
                  </a:txBody>
                  <a:tcPr>
                    <a:solidFill>
                      <a:srgbClr val="0F172A"/>
                    </a:solidFill>
                  </a:tcPr>
                </a:tc>
              </a:tr>
              <a:tr h="627017">
                <a:tc>
                  <a:txBody>
                    <a:bodyPr/>
                    <a:lstStyle/>
                    <a:p>
                      <a:pPr>
                        <a:defRPr sz="1200">
                          <a:solidFill>
                            <a:srgbClr val="F8FAFC"/>
                          </a:solidFill>
                        </a:defRPr>
                      </a:pPr>
                      <a:r>
                        <a:t>TC03</a:t>
                      </a:r>
                    </a:p>
                  </a:txBody>
                  <a:tcPr>
                    <a:solidFill>
                      <a:srgbClr val="0F172A"/>
                    </a:solidFill>
                  </a:tcPr>
                </a:tc>
                <a:tc>
                  <a:txBody>
                    <a:bodyPr/>
                    <a:lstStyle/>
                    <a:p>
                      <a:pPr>
                        <a:defRPr sz="1200">
                          <a:solidFill>
                            <a:srgbClr val="F8FAFC"/>
                          </a:solidFill>
                        </a:defRPr>
                      </a:pPr>
                      <a:r>
                        <a:t>Gõ phím ARROW_UP</a:t>
                      </a:r>
                    </a:p>
                  </a:txBody>
                  <a:tcPr>
                    <a:solidFill>
                      <a:srgbClr val="0F172A"/>
                    </a:solidFill>
                  </a:tcPr>
                </a:tc>
                <a:tc>
                  <a:txBody>
                    <a:bodyPr/>
                    <a:lstStyle/>
                    <a:p>
                      <a:pPr>
                        <a:defRPr sz="1200">
                          <a:solidFill>
                            <a:srgbClr val="F8FAFC"/>
                          </a:solidFill>
                        </a:defRPr>
                      </a:pPr>
                      <a:r>
                        <a:t>/key_presses</a:t>
                      </a:r>
                    </a:p>
                  </a:txBody>
                  <a:tcPr>
                    <a:solidFill>
                      <a:srgbClr val="0F172A"/>
                    </a:solidFill>
                  </a:tcPr>
                </a:tc>
                <a:tc>
                  <a:txBody>
                    <a:bodyPr/>
                    <a:lstStyle/>
                    <a:p>
                      <a:pPr>
                        <a:defRPr sz="1200">
                          <a:solidFill>
                            <a:srgbClr val="F8FAFC"/>
                          </a:solidFill>
                        </a:defRPr>
                      </a:pPr>
                      <a:r>
                        <a:t>get, By.ID, send_keys, Keys.ARROW_UP, text</a:t>
                      </a:r>
                    </a:p>
                  </a:txBody>
                  <a:tcPr>
                    <a:solidFill>
                      <a:srgbClr val="0F172A"/>
                    </a:solidFill>
                  </a:tcPr>
                </a:tc>
                <a:tc>
                  <a:txBody>
                    <a:bodyPr/>
                    <a:lstStyle/>
                    <a:p>
                      <a:pPr>
                        <a:defRPr sz="1200">
                          <a:solidFill>
                            <a:srgbClr val="F8FAFC"/>
                          </a:solidFill>
                        </a:defRPr>
                      </a:pPr>
                      <a:r>
                        <a:t>"You entered: UP"</a:t>
                      </a:r>
                    </a:p>
                  </a:txBody>
                  <a:tcPr>
                    <a:solidFill>
                      <a:srgbClr val="0F172A"/>
                    </a:solidFill>
                  </a:tcPr>
                </a:tc>
                <a:tc>
                  <a:txBody>
                    <a:bodyPr/>
                    <a:lstStyle/>
                    <a:p>
                      <a:pPr>
                        <a:defRPr sz="1200" b="1">
                          <a:solidFill>
                            <a:srgbClr val="34D399"/>
                          </a:solidFill>
                        </a:defRPr>
                      </a:pPr>
                      <a:r>
                        <a:t>PASSED</a:t>
                      </a:r>
                    </a:p>
                  </a:txBody>
                  <a:tcPr>
                    <a:solidFill>
                      <a:srgbClr val="0F172A"/>
                    </a:solidFill>
                  </a:tcPr>
                </a:tc>
              </a:tr>
              <a:tr h="627017">
                <a:tc>
                  <a:txBody>
                    <a:bodyPr/>
                    <a:lstStyle/>
                    <a:p>
                      <a:pPr>
                        <a:defRPr sz="1200">
                          <a:solidFill>
                            <a:srgbClr val="F8FAFC"/>
                          </a:solidFill>
                        </a:defRPr>
                      </a:pPr>
                      <a:r>
                        <a:t>TC04</a:t>
                      </a:r>
                    </a:p>
                  </a:txBody>
                  <a:tcPr>
                    <a:solidFill>
                      <a:srgbClr val="0F172A"/>
                    </a:solidFill>
                  </a:tcPr>
                </a:tc>
                <a:tc>
                  <a:txBody>
                    <a:bodyPr/>
                    <a:lstStyle/>
                    <a:p>
                      <a:pPr>
                        <a:defRPr sz="1200">
                          <a:solidFill>
                            <a:srgbClr val="F8FAFC"/>
                          </a:solidFill>
                        </a:defRPr>
                      </a:pPr>
                      <a:r>
                        <a:t>Nhập số &amp; kiểm tra</a:t>
                      </a:r>
                    </a:p>
                  </a:txBody>
                  <a:tcPr>
                    <a:solidFill>
                      <a:srgbClr val="0F172A"/>
                    </a:solidFill>
                  </a:tcPr>
                </a:tc>
                <a:tc>
                  <a:txBody>
                    <a:bodyPr/>
                    <a:lstStyle/>
                    <a:p>
                      <a:pPr>
                        <a:defRPr sz="1200">
                          <a:solidFill>
                            <a:srgbClr val="F8FAFC"/>
                          </a:solidFill>
                        </a:defRPr>
                      </a:pPr>
                      <a:r>
                        <a:t>/inputs</a:t>
                      </a:r>
                    </a:p>
                  </a:txBody>
                  <a:tcPr>
                    <a:solidFill>
                      <a:srgbClr val="0F172A"/>
                    </a:solidFill>
                  </a:tcPr>
                </a:tc>
                <a:tc>
                  <a:txBody>
                    <a:bodyPr/>
                    <a:lstStyle/>
                    <a:p>
                      <a:pPr>
                        <a:defRPr sz="1200">
                          <a:solidFill>
                            <a:srgbClr val="F8FAFC"/>
                          </a:solidFill>
                        </a:defRPr>
                      </a:pPr>
                      <a:r>
                        <a:t>get, send_keys, get_attribute</a:t>
                      </a:r>
                    </a:p>
                  </a:txBody>
                  <a:tcPr>
                    <a:solidFill>
                      <a:srgbClr val="0F172A"/>
                    </a:solidFill>
                  </a:tcPr>
                </a:tc>
                <a:tc>
                  <a:txBody>
                    <a:bodyPr/>
                    <a:lstStyle/>
                    <a:p>
                      <a:pPr>
                        <a:defRPr sz="1200">
                          <a:solidFill>
                            <a:srgbClr val="F8FAFC"/>
                          </a:solidFill>
                        </a:defRPr>
                      </a:pPr>
                      <a:r>
                        <a:t>type="number", val="50"</a:t>
                      </a:r>
                    </a:p>
                  </a:txBody>
                  <a:tcPr>
                    <a:solidFill>
                      <a:srgbClr val="0F172A"/>
                    </a:solidFill>
                  </a:tcPr>
                </a:tc>
                <a:tc>
                  <a:txBody>
                    <a:bodyPr/>
                    <a:lstStyle/>
                    <a:p>
                      <a:pPr>
                        <a:defRPr sz="1200" b="1">
                          <a:solidFill>
                            <a:srgbClr val="34D399"/>
                          </a:solidFill>
                        </a:defRPr>
                      </a:pPr>
                      <a:r>
                        <a:t>PASSED</a:t>
                      </a:r>
                    </a:p>
                  </a:txBody>
                  <a:tcPr>
                    <a:solidFill>
                      <a:srgbClr val="0F172A"/>
                    </a:solidFill>
                  </a:tcPr>
                </a:tc>
              </a:tr>
              <a:tr h="627017">
                <a:tc>
                  <a:txBody>
                    <a:bodyPr/>
                    <a:lstStyle/>
                    <a:p>
                      <a:pPr>
                        <a:defRPr sz="1200">
                          <a:solidFill>
                            <a:srgbClr val="F8FAFC"/>
                          </a:solidFill>
                        </a:defRPr>
                      </a:pPr>
                      <a:r>
                        <a:t>TC05</a:t>
                      </a:r>
                    </a:p>
                  </a:txBody>
                  <a:tcPr>
                    <a:solidFill>
                      <a:srgbClr val="0F172A"/>
                    </a:solidFill>
                  </a:tcPr>
                </a:tc>
                <a:tc>
                  <a:txBody>
                    <a:bodyPr/>
                    <a:lstStyle/>
                    <a:p>
                      <a:pPr>
                        <a:defRPr sz="1200">
                          <a:solidFill>
                            <a:srgbClr val="F8FAFC"/>
                          </a:solidFill>
                        </a:defRPr>
                      </a:pPr>
                      <a:r>
                        <a:t>Tăng số bằng phím lên</a:t>
                      </a:r>
                    </a:p>
                  </a:txBody>
                  <a:tcPr>
                    <a:solidFill>
                      <a:srgbClr val="0F172A"/>
                    </a:solidFill>
                  </a:tcPr>
                </a:tc>
                <a:tc>
                  <a:txBody>
                    <a:bodyPr/>
                    <a:lstStyle/>
                    <a:p>
                      <a:pPr>
                        <a:defRPr sz="1200">
                          <a:solidFill>
                            <a:srgbClr val="F8FAFC"/>
                          </a:solidFill>
                        </a:defRPr>
                      </a:pPr>
                      <a:r>
                        <a:t>/inputs</a:t>
                      </a:r>
                    </a:p>
                  </a:txBody>
                  <a:tcPr>
                    <a:solidFill>
                      <a:srgbClr val="0F172A"/>
                    </a:solidFill>
                  </a:tcPr>
                </a:tc>
                <a:tc>
                  <a:txBody>
                    <a:bodyPr/>
                    <a:lstStyle/>
                    <a:p>
                      <a:pPr>
                        <a:defRPr sz="1200">
                          <a:solidFill>
                            <a:srgbClr val="F8FAFC"/>
                          </a:solidFill>
                        </a:defRPr>
                      </a:pPr>
                      <a:r>
                        <a:t>send_keys, Keys.ARROW_UP, get_attribute</a:t>
                      </a:r>
                    </a:p>
                  </a:txBody>
                  <a:tcPr>
                    <a:solidFill>
                      <a:srgbClr val="0F172A"/>
                    </a:solidFill>
                  </a:tcPr>
                </a:tc>
                <a:tc>
                  <a:txBody>
                    <a:bodyPr/>
                    <a:lstStyle/>
                    <a:p>
                      <a:pPr>
                        <a:defRPr sz="1200">
                          <a:solidFill>
                            <a:srgbClr val="F8FAFC"/>
                          </a:solidFill>
                        </a:defRPr>
                      </a:pPr>
                      <a:r>
                        <a:t>val tăng từ 50 lên 51</a:t>
                      </a:r>
                    </a:p>
                  </a:txBody>
                  <a:tcPr>
                    <a:solidFill>
                      <a:srgbClr val="0F172A"/>
                    </a:solidFill>
                  </a:tcPr>
                </a:tc>
                <a:tc>
                  <a:txBody>
                    <a:bodyPr/>
                    <a:lstStyle/>
                    <a:p>
                      <a:pPr>
                        <a:defRPr sz="1200" b="1">
                          <a:solidFill>
                            <a:srgbClr val="34D399"/>
                          </a:solidFill>
                        </a:defRPr>
                      </a:pPr>
                      <a:r>
                        <a:t>PASSED</a:t>
                      </a:r>
                    </a:p>
                  </a:txBody>
                  <a:tcPr>
                    <a:solidFill>
                      <a:srgbClr val="0F172A"/>
                    </a:solidFill>
                  </a:tcPr>
                </a:tc>
              </a:tr>
              <a:tr h="627018">
                <a:tc>
                  <a:txBody>
                    <a:bodyPr/>
                    <a:lstStyle/>
                    <a:p>
                      <a:pPr>
                        <a:defRPr sz="1200">
                          <a:solidFill>
                            <a:srgbClr val="F8FAFC"/>
                          </a:solidFill>
                        </a:defRPr>
                      </a:pPr>
                      <a:r>
                        <a:t>TC06</a:t>
                      </a:r>
                    </a:p>
                  </a:txBody>
                  <a:tcPr>
                    <a:solidFill>
                      <a:srgbClr val="0F172A"/>
                    </a:solidFill>
                  </a:tcPr>
                </a:tc>
                <a:tc>
                  <a:txBody>
                    <a:bodyPr/>
                    <a:lstStyle/>
                    <a:p>
                      <a:pPr>
                        <a:defRPr sz="1200">
                          <a:solidFill>
                            <a:srgbClr val="F8FAFC"/>
                          </a:solidFill>
                        </a:defRPr>
                      </a:pPr>
                      <a:r>
                        <a:t>Xoá nội dung ô nhập</a:t>
                      </a:r>
                    </a:p>
                  </a:txBody>
                  <a:tcPr>
                    <a:solidFill>
                      <a:srgbClr val="0F172A"/>
                    </a:solidFill>
                  </a:tcPr>
                </a:tc>
                <a:tc>
                  <a:txBody>
                    <a:bodyPr/>
                    <a:lstStyle/>
                    <a:p>
                      <a:pPr>
                        <a:defRPr sz="1200">
                          <a:solidFill>
                            <a:srgbClr val="F8FAFC"/>
                          </a:solidFill>
                        </a:defRPr>
                      </a:pPr>
                      <a:r>
                        <a:t>/inputs</a:t>
                      </a:r>
                    </a:p>
                  </a:txBody>
                  <a:tcPr>
                    <a:solidFill>
                      <a:srgbClr val="0F172A"/>
                    </a:solidFill>
                  </a:tcPr>
                </a:tc>
                <a:tc>
                  <a:txBody>
                    <a:bodyPr/>
                    <a:lstStyle/>
                    <a:p>
                      <a:pPr>
                        <a:defRPr sz="1200">
                          <a:solidFill>
                            <a:srgbClr val="F8FAFC"/>
                          </a:solidFill>
                        </a:defRPr>
                      </a:pPr>
                      <a:r>
                        <a:t>send_keys, clear, get_attribute</a:t>
                      </a:r>
                    </a:p>
                  </a:txBody>
                  <a:tcPr>
                    <a:solidFill>
                      <a:srgbClr val="0F172A"/>
                    </a:solidFill>
                  </a:tcPr>
                </a:tc>
                <a:tc>
                  <a:txBody>
                    <a:bodyPr/>
                    <a:lstStyle/>
                    <a:p>
                      <a:pPr>
                        <a:defRPr sz="1200">
                          <a:solidFill>
                            <a:srgbClr val="F8FAFC"/>
                          </a:solidFill>
                        </a:defRPr>
                      </a:pPr>
                      <a:r>
                        <a:t>val trở về rỗng ""</a:t>
                      </a:r>
                    </a:p>
                  </a:txBody>
                  <a:tcPr>
                    <a:solidFill>
                      <a:srgbClr val="0F172A"/>
                    </a:solidFill>
                  </a:tcPr>
                </a:tc>
                <a:tc>
                  <a:txBody>
                    <a:bodyPr/>
                    <a:lstStyle/>
                    <a:p>
                      <a:pPr>
                        <a:defRPr sz="1200" b="1">
                          <a:solidFill>
                            <a:srgbClr val="34D399"/>
                          </a:solidFill>
                        </a:defRPr>
                      </a:pPr>
                      <a:r>
                        <a:t>PASSED</a:t>
                      </a:r>
                    </a:p>
                  </a:txBody>
                  <a:tcPr>
                    <a:solidFill>
                      <a:srgbClr val="0F172A"/>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a:spAutoFit/>
          </a:bodyPr>
          <a:lstStyle/>
          <a:p>
            <a:pPr>
              <a:defRPr sz="2800" b="1">
                <a:solidFill>
                  <a:srgbClr val="38BDF8"/>
                </a:solidFill>
                <a:latin typeface="Arial"/>
              </a:defRPr>
            </a:pPr>
            <a:r>
              <a:t>6. KẾT QUẢ THỰC THI &amp; MINH CHỨNG THỰC TẾ</a:t>
            </a:r>
          </a:p>
        </p:txBody>
      </p:sp>
      <p:sp>
        <p:nvSpPr>
          <p:cNvPr id="4" name="Rectangle 3"/>
          <p:cNvSpPr/>
          <p:nvPr/>
        </p:nvSpPr>
        <p:spPr>
          <a:xfrm>
            <a:off x="731520" y="118872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365760"/>
          </a:xfrm>
          <a:prstGeom prst="rect">
            <a:avLst/>
          </a:prstGeom>
          <a:noFill/>
        </p:spPr>
        <p:txBody>
          <a:bodyPr wrap="none">
            <a:spAutoFit/>
          </a:bodyPr>
          <a:lstStyle/>
          <a:p>
            <a:pPr>
              <a:defRPr sz="1100">
                <a:solidFill>
                  <a:srgbClr val="94A3B8"/>
                </a:solidFill>
              </a:defRPr>
            </a:pPr>
            <a:r>
              <a:t>Học phần: Kiểm thử phần mềm | Nhóm W1 – Tuần 6: Nhập liệu &amp; phím đặc biệt</a:t>
            </a:r>
          </a:p>
        </p:txBody>
      </p:sp>
      <p:sp>
        <p:nvSpPr>
          <p:cNvPr id="6" name="TextBox 5"/>
          <p:cNvSpPr txBox="1"/>
          <p:nvPr/>
        </p:nvSpPr>
        <p:spPr>
          <a:xfrm>
            <a:off x="731520" y="1463040"/>
            <a:ext cx="4114800" cy="4572000"/>
          </a:xfrm>
          <a:prstGeom prst="rect">
            <a:avLst/>
          </a:prstGeom>
          <a:noFill/>
        </p:spPr>
        <p:txBody>
          <a:bodyPr wrap="square">
            <a:spAutoFit/>
          </a:bodyPr>
          <a:lstStyle/>
          <a:p>
            <a:pPr>
              <a:defRPr sz="1400">
                <a:solidFill>
                  <a:srgbClr val="F8FAFC"/>
                </a:solidFill>
              </a:defRPr>
            </a:pPr>
            <a:r>
              <a:t>• Kết quả thực thi Pytest:</a:t>
            </a:r>
            <a:br/>
            <a:r>
              <a:t>   - 6/6 Ca kiểm thử đạt (100% Passed)</a:t>
            </a:r>
            <a:br/>
            <a:r>
              <a:t>   - Tổng thời gian chạy: 5.01 giây</a:t>
            </a:r>
            <a:br/>
            <a:r>
              <a:t>   - Xuất báo cáo: tuan-06/anh/report.html</a:t>
            </a:r>
            <a:br/>
            <a:br/>
            <a:r>
              <a:t>• Cơ chế đảm bảo chất lượng:</a:t>
            </a:r>
            <a:br/>
            <a:r>
              <a:t>   - So sánh chính xác text &amp; attributes bằng assert</a:t>
            </a:r>
            <a:br/>
            <a:r>
              <a:t>   - Tự động chụp ảnh minh chứng từng bước vào thư mục tuan-06/anh/</a:t>
            </a:r>
            <a:br/>
            <a:r>
              <a:t>   - Chạy ổn định cả trên GUI và dòng lệnh CI/Headless</a:t>
            </a:r>
          </a:p>
        </p:txBody>
      </p:sp>
      <p:pic>
        <p:nvPicPr>
          <p:cNvPr id="7" name="Picture 6" descr="tc01_key_presses_enter.png"/>
          <p:cNvPicPr>
            <a:picLocks noChangeAspect="1"/>
          </p:cNvPicPr>
          <p:nvPr/>
        </p:nvPicPr>
        <p:blipFill>
          <a:blip r:embed="rId2"/>
          <a:stretch>
            <a:fillRect/>
          </a:stretch>
        </p:blipFill>
        <p:spPr>
          <a:xfrm>
            <a:off x="5029200" y="1463040"/>
            <a:ext cx="3291840" cy="1689640"/>
          </a:xfrm>
          <a:prstGeom prst="rect">
            <a:avLst/>
          </a:prstGeom>
        </p:spPr>
      </p:pic>
      <p:sp>
        <p:nvSpPr>
          <p:cNvPr id="8" name="TextBox 7"/>
          <p:cNvSpPr txBox="1"/>
          <p:nvPr/>
        </p:nvSpPr>
        <p:spPr>
          <a:xfrm>
            <a:off x="5029200" y="3657600"/>
            <a:ext cx="3291840" cy="365760"/>
          </a:xfrm>
          <a:prstGeom prst="rect">
            <a:avLst/>
          </a:prstGeom>
          <a:noFill/>
        </p:spPr>
        <p:txBody>
          <a:bodyPr wrap="none">
            <a:spAutoFit/>
          </a:bodyPr>
          <a:lstStyle/>
          <a:p>
            <a:pPr>
              <a:defRPr sz="1100">
                <a:solidFill>
                  <a:srgbClr val="38BDF8"/>
                </a:solidFill>
              </a:defRPr>
            </a:pPr>
            <a:r>
              <a:t>Minh chứng TC01: Gõ ENTER</a:t>
            </a:r>
          </a:p>
        </p:txBody>
      </p:sp>
      <p:pic>
        <p:nvPicPr>
          <p:cNvPr id="9" name="Picture 8" descr="tc04_inputs_send_keys.png"/>
          <p:cNvPicPr>
            <a:picLocks noChangeAspect="1"/>
          </p:cNvPicPr>
          <p:nvPr/>
        </p:nvPicPr>
        <p:blipFill>
          <a:blip r:embed="rId3"/>
          <a:stretch>
            <a:fillRect/>
          </a:stretch>
        </p:blipFill>
        <p:spPr>
          <a:xfrm>
            <a:off x="8503920" y="1463040"/>
            <a:ext cx="3291840" cy="1689640"/>
          </a:xfrm>
          <a:prstGeom prst="rect">
            <a:avLst/>
          </a:prstGeom>
        </p:spPr>
      </p:pic>
      <p:sp>
        <p:nvSpPr>
          <p:cNvPr id="10" name="TextBox 9"/>
          <p:cNvSpPr txBox="1"/>
          <p:nvPr/>
        </p:nvSpPr>
        <p:spPr>
          <a:xfrm>
            <a:off x="8503920" y="3657600"/>
            <a:ext cx="3291840" cy="365760"/>
          </a:xfrm>
          <a:prstGeom prst="rect">
            <a:avLst/>
          </a:prstGeom>
          <a:noFill/>
        </p:spPr>
        <p:txBody>
          <a:bodyPr wrap="none">
            <a:spAutoFit/>
          </a:bodyPr>
          <a:lstStyle/>
          <a:p>
            <a:pPr>
              <a:defRPr sz="1100">
                <a:solidFill>
                  <a:srgbClr val="38BDF8"/>
                </a:solidFill>
              </a:defRPr>
            </a:pPr>
            <a:r>
              <a:t>Minh chứng TC04: Nhập số inputs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a:spAutoFit/>
          </a:bodyPr>
          <a:lstStyle/>
          <a:p>
            <a:pPr>
              <a:defRPr sz="2800" b="1">
                <a:solidFill>
                  <a:srgbClr val="38BDF8"/>
                </a:solidFill>
                <a:latin typeface="Arial"/>
              </a:defRPr>
            </a:pPr>
            <a:r>
              <a:t>7. BÀI HỌC KINH NGHIỆM &amp; KẾT LUẬN</a:t>
            </a:r>
          </a:p>
        </p:txBody>
      </p:sp>
      <p:sp>
        <p:nvSpPr>
          <p:cNvPr id="4" name="Rectangle 3"/>
          <p:cNvSpPr/>
          <p:nvPr/>
        </p:nvSpPr>
        <p:spPr>
          <a:xfrm>
            <a:off x="731520" y="118872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365760"/>
          </a:xfrm>
          <a:prstGeom prst="rect">
            <a:avLst/>
          </a:prstGeom>
          <a:noFill/>
        </p:spPr>
        <p:txBody>
          <a:bodyPr wrap="none">
            <a:spAutoFit/>
          </a:bodyPr>
          <a:lstStyle/>
          <a:p>
            <a:pPr>
              <a:defRPr sz="1100">
                <a:solidFill>
                  <a:srgbClr val="94A3B8"/>
                </a:solidFill>
              </a:defRPr>
            </a:pPr>
            <a:r>
              <a:t>Học phần: Kiểm thử phần mềm | Nhóm W1 – Tuần 6: Nhập liệu &amp; phím đặc biệt</a:t>
            </a:r>
          </a:p>
        </p:txBody>
      </p:sp>
      <p:sp>
        <p:nvSpPr>
          <p:cNvPr id="6" name="TextBox 5"/>
          <p:cNvSpPr txBox="1"/>
          <p:nvPr/>
        </p:nvSpPr>
        <p:spPr>
          <a:xfrm>
            <a:off x="731520" y="1463040"/>
            <a:ext cx="10728655" cy="4572000"/>
          </a:xfrm>
          <a:prstGeom prst="rect">
            <a:avLst/>
          </a:prstGeom>
          <a:noFill/>
        </p:spPr>
        <p:txBody>
          <a:bodyPr wrap="square">
            <a:spAutoFit/>
          </a:bodyPr>
          <a:lstStyle/>
          <a:p/>
          <a:p>
            <a:pPr>
              <a:spcBef>
                <a:spcPts val="1200"/>
              </a:spcBef>
              <a:defRPr sz="1700" b="1">
                <a:solidFill>
                  <a:srgbClr val="38BDF8"/>
                </a:solidFill>
              </a:defRPr>
            </a:pPr>
            <a:r>
              <a:t>• Xử lý biểu mẫu HTML tự động submit</a:t>
            </a:r>
          </a:p>
          <a:p>
            <a:pPr>
              <a:defRPr sz="1400">
                <a:solidFill>
                  <a:srgbClr val="F8FAFC"/>
                </a:solidFill>
              </a:defRPr>
            </a:pPr>
            <a:r>
              <a:t>   Khi nhấn Keys.ENTER vào ô input trong form, trình duyệt mặc định gửi request GET reload trang khiến element bị stale. Cần sử dụng execute_script chặn event.preventDefault() để bảo toàn DOM.</a:t>
            </a:r>
          </a:p>
          <a:p>
            <a:pPr>
              <a:spcBef>
                <a:spcPts val="1200"/>
              </a:spcBef>
              <a:defRPr sz="1700" b="1">
                <a:solidFill>
                  <a:srgbClr val="38BDF8"/>
                </a:solidFill>
              </a:defRPr>
            </a:pPr>
            <a:r>
              <a:t>• Tối ưu hoá hiệu năng chạy kiểm thử</a:t>
            </a:r>
          </a:p>
          <a:p>
            <a:pPr>
              <a:defRPr sz="1400">
                <a:solidFill>
                  <a:srgbClr val="F8FAFC"/>
                </a:solidFill>
              </a:defRPr>
            </a:pPr>
            <a:r>
              <a:t>   Cấu hình page_load_strategy='eager' giúp trình duyệt không bị treo do các script thống kê ngoài của trang demo. Áp dụng setUpClass tái sử dụng 1 browser duy nhất giúp tốc độ chạy tăng gấp 6 lần.</a:t>
            </a:r>
          </a:p>
          <a:p>
            <a:pPr>
              <a:spcBef>
                <a:spcPts val="1200"/>
              </a:spcBef>
              <a:defRPr sz="1700" b="1">
                <a:solidFill>
                  <a:srgbClr val="38BDF8"/>
                </a:solidFill>
              </a:defRPr>
            </a:pPr>
            <a:r>
              <a:t>• Giá trị của quy trình Git nhóm chuẩn mực</a:t>
            </a:r>
          </a:p>
          <a:p>
            <a:pPr>
              <a:defRPr sz="1400">
                <a:solidFill>
                  <a:srgbClr val="F8FAFC"/>
                </a:solidFill>
              </a:defRPr>
            </a:pPr>
            <a:r>
              <a:t>   Phân chia Issue từ đầu tuần giúp từng thành viên chủ động. Quy trình Review và Pull Request vào nhánh tuần trước khi gộp vào main loại bỏ hoàn toàn xung đột code.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62895" cy="3200400"/>
          </a:xfrm>
          <a:prstGeom prst="rect">
            <a:avLst/>
          </a:prstGeom>
          <a:noFill/>
        </p:spPr>
        <p:txBody>
          <a:bodyPr wrap="square">
            <a:spAutoFit/>
          </a:bodyPr>
          <a:lstStyle/>
          <a:p>
            <a:pPr algn="ctr">
              <a:defRPr sz="3600" b="1">
                <a:solidFill>
                  <a:srgbClr val="38BDF8"/>
                </a:solidFill>
              </a:defRPr>
            </a:pPr>
            <a:r>
              <a:t>CẢM ƠN CÔ VÀ CÁC BẠN ĐÃ LẮNG NGHE!</a:t>
            </a:r>
          </a:p>
          <a:p>
            <a:pPr algn="ctr">
              <a:spcBef>
                <a:spcPts val="1600"/>
              </a:spcBef>
              <a:defRPr sz="2400" b="1">
                <a:solidFill>
                  <a:srgbClr val="F8FAFC"/>
                </a:solidFill>
              </a:defRPr>
            </a:pPr>
            <a:r>
              <a:t>PHẦN HỎI ĐÁP – Q &amp; A</a:t>
            </a:r>
          </a:p>
          <a:p>
            <a:pPr algn="ctr">
              <a:spcBef>
                <a:spcPts val="2000"/>
              </a:spcBef>
              <a:defRPr sz="1600">
                <a:solidFill>
                  <a:srgbClr val="94A3B8"/>
                </a:solidFill>
              </a:defRPr>
            </a:pPr>
            <a:r>
              <a:t>Nhóm W1 – Kho mã nguồn: github.com/Nanhhhhhhh/kttd-w1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